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58" r:id="rId4"/>
    <p:sldId id="259" r:id="rId5"/>
    <p:sldId id="260" r:id="rId6"/>
    <p:sldId id="261" r:id="rId7"/>
    <p:sldId id="276" r:id="rId8"/>
    <p:sldId id="264" r:id="rId9"/>
    <p:sldId id="265" r:id="rId10"/>
    <p:sldId id="266" r:id="rId11"/>
    <p:sldId id="284" r:id="rId12"/>
    <p:sldId id="278" r:id="rId13"/>
    <p:sldId id="279" r:id="rId14"/>
    <p:sldId id="280" r:id="rId15"/>
    <p:sldId id="281" r:id="rId16"/>
    <p:sldId id="262" r:id="rId17"/>
    <p:sldId id="263" r:id="rId18"/>
    <p:sldId id="282" r:id="rId19"/>
    <p:sldId id="28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6" y="1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9CB9-E4DD-C54B-4553-34949DE70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3C869E-965E-605F-101A-F6D550220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56889-2D42-C343-75BD-E296F88B1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0BC6-0767-437F-9889-5203A23B2C7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1FBFD-E2FE-902C-04D1-17CC63C39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10087-C6D9-F18C-5CCA-F3462842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3652-BE2C-4146-999E-7F7AB8459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282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6AEE9-72C7-6735-65F9-D5CFE3155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E52A1-3B8C-DF98-E4C3-D8509D0F6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DEBD1-8739-A9E1-A425-8E519CCA7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0BC6-0767-437F-9889-5203A23B2C7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F7814-5CDC-7BB1-10DF-3926CCB67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6E818-30E9-6CF0-6DA7-8C89A9892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3652-BE2C-4146-999E-7F7AB8459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24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50E52-BF60-8F0F-B530-2B60B3E0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73FAC-C4EC-12CC-12DA-DC1B473FA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B8538-CA0A-906A-57FF-7E5AA94FB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0BC6-0767-437F-9889-5203A23B2C7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6E5C7-4F43-3F7D-E3DD-B21C7F8DF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43AC6-C6E1-7118-DC70-D20C7F44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3652-BE2C-4146-999E-7F7AB8459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74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31A96-0D59-241D-7AB0-A4771AC76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649EB-66E1-48D7-C0E3-F2449E04E5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72C81-356B-EDB9-B009-77E2DADA4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1BC76-4A0B-E229-1894-246310816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0BC6-0767-437F-9889-5203A23B2C7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46DBA-D981-7AE7-E8F8-E98364E86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AD1AF-C6B9-EB96-CAC4-0CCF59EB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3652-BE2C-4146-999E-7F7AB8459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38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E910C-7FA3-F307-C04A-5263CC619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1A854-8982-BF94-8133-9DFFF82EF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F30D6-9BF7-CF5B-C8AC-D959F24B4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3E2EAB-3555-8728-C193-F8BF0782D5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6A2E6A-DAB2-9C3C-D7BF-8AAC226EA9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C0A7BF-515E-FF8F-0B83-D818F5AFD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0BC6-0767-437F-9889-5203A23B2C7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BA9BC1-3B47-7DB1-91BB-B1289AA67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73220C-7FBE-E321-7CFF-C23EB6DA7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3652-BE2C-4146-999E-7F7AB8459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04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AD73F-FCCA-A8FF-D4CB-15536E191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F355CD-1454-C145-2371-8B193151C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0BC6-0767-437F-9889-5203A23B2C7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498A33-494E-94F7-8CAC-09CEB10D8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9F16-B4AD-20B2-FFFE-2A4B4BB62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3652-BE2C-4146-999E-7F7AB8459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53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647E0C-C8F9-1AED-C1CC-E760A1E4B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0BC6-0767-437F-9889-5203A23B2C7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949241-FA30-0E95-AC94-972CC9122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4D59A-D0F0-5C20-B2DC-8BF44C4E6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3652-BE2C-4146-999E-7F7AB8459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47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2A2D9-B2FC-7750-70B2-B34AAFA7B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E1EDC-CACE-EDD9-C8B1-CB1290FE7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251F4-3747-2FFB-B5AC-E1AE2B139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2EEBA-9FA9-661D-9AE9-73867C4BB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0BC6-0767-437F-9889-5203A23B2C7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B65B1-EFB7-5C8D-3193-E54BB0C05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708E6-18CF-2BFE-9075-C868621A4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3652-BE2C-4146-999E-7F7AB8459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88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73768-40BA-06FD-7CD3-70C8CD52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D5C047-E8C1-4052-6089-FF8CF8CCE5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69C3F-83AA-B877-90A4-D14222A26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89CA9-FF6D-9860-CCEC-6FDE96DB4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0BC6-0767-437F-9889-5203A23B2C7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A48F3-3266-E5B2-921A-E25A40FDE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EC3-7EED-8536-6D8F-1005AB4FD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3652-BE2C-4146-999E-7F7AB8459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15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36E7A-0E8A-E56A-8AC9-65BDECAE1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FD1AE-1960-023A-64A2-36A18C9C6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CAC1F-7C2D-1CE8-CCD9-163C95A9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0BC6-0767-437F-9889-5203A23B2C7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3A6CD-C681-5CF1-2F54-4BA9B8D32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DA2DA-73BF-FB14-58A9-C7A4ECC4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3652-BE2C-4146-999E-7F7AB8459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0E7CA5-AE19-746B-E609-8E1E17A60E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1CF26-2D16-6806-8487-CBF3A1926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D45A4-38F0-9D0C-9110-988D84A07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0BC6-0767-437F-9889-5203A23B2C7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09510-5127-F1D2-6C7A-A5BF0C1EE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674AF-B0E9-4D4B-7595-715C47DA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83652-BE2C-4146-999E-7F7AB8459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30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5C9AA5-1BCA-6E63-6226-4922D27CE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BF1F3-BEB0-2D7B-F07F-876BF069C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755BD-8AE2-93EB-D328-1ACC9B759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E0BC6-0767-437F-9889-5203A23B2C72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F1B42-1143-8ED0-DDAD-2CE43381D6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9D42B-71F0-8B43-7646-4F06E1124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83652-BE2C-4146-999E-7F7AB8459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6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Golos Text"/>
              </a:rPr>
              <a:t>BRUNO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Golos Text"/>
              </a:rPr>
              <a:t>Отчёт по эксплуатации объектов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9BEDD"/>
                </a:solidFill>
                <a:latin typeface="Golos Text"/>
              </a:rPr>
              <a:t>Оклейка QR · обращения · плановые и внеплановые задачи · коменданты · уборка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AAFF"/>
                </a:solidFill>
                <a:latin typeface="Golos Text"/>
              </a:rPr>
              <a:t>ВТБ  ·  30.03.2026 — 26.07.2026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2882"/>
                </a:solidFill>
                <a:latin typeface="Golos Text"/>
              </a:rPr>
              <a:t>Обзор отчёта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B82"/>
                </a:solidFill>
                <a:latin typeface="Golos Text"/>
              </a:rPr>
              <a:t>16 активных объектов портфеля · период 30.03.2026 — 26.07.2026 · данные Bruno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456432" cy="217627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58368" y="1737360"/>
            <a:ext cx="402336" cy="402336"/>
          </a:xfrm>
          <a:prstGeom prst="ellipse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olos Tex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86000"/>
            <a:ext cx="3054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02882"/>
                </a:solidFill>
                <a:latin typeface="Golos Text"/>
              </a:rPr>
              <a:t>Внедрение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51760"/>
            <a:ext cx="3054096" cy="969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1A2233"/>
                </a:solidFill>
                <a:latin typeface="Golos Text"/>
              </a:rPr>
              <a:t>Ход оклейки QR-кодов по зданиям портфеля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554480"/>
            <a:ext cx="3456432" cy="217627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315968" y="1737360"/>
            <a:ext cx="402336" cy="402336"/>
          </a:xfrm>
          <a:prstGeom prst="ellipse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olos Tex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2286000"/>
            <a:ext cx="3054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02882"/>
                </a:solidFill>
                <a:latin typeface="Golos Text"/>
              </a:rPr>
              <a:t>Плановые / неплановые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651760"/>
            <a:ext cx="3054096" cy="969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1A2233"/>
                </a:solidFill>
                <a:latin typeface="Golos Text"/>
              </a:rPr>
              <a:t>Структура портфеля задач и конверсия обращений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554480"/>
            <a:ext cx="3456432" cy="217627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973568" y="1737360"/>
            <a:ext cx="402336" cy="402336"/>
          </a:xfrm>
          <a:prstGeom prst="ellipse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olos Tex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2286000"/>
            <a:ext cx="3054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02882"/>
                </a:solidFill>
                <a:latin typeface="Golos Text"/>
              </a:rPr>
              <a:t>Обращения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651760"/>
            <a:ext cx="3054096" cy="969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1A2233"/>
                </a:solidFill>
                <a:latin typeface="Golos Text"/>
              </a:rPr>
              <a:t>Динамика входящих обращений жильцов/сотрудников по QR, по объектам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3456432" cy="217627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8368" y="4114800"/>
            <a:ext cx="402336" cy="402336"/>
          </a:xfrm>
          <a:prstGeom prst="ellipse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olos Text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663440"/>
            <a:ext cx="3054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02882"/>
                </a:solidFill>
                <a:latin typeface="Golos Text"/>
              </a:rPr>
              <a:t>Задачи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029200"/>
            <a:ext cx="3054096" cy="969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1A2233"/>
                </a:solidFill>
                <a:latin typeface="Golos Text"/>
              </a:rPr>
              <a:t>Плановые и внеплановые задачи, эффективность выполнения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3931920"/>
            <a:ext cx="3456432" cy="217627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315968" y="4114800"/>
            <a:ext cx="402336" cy="402336"/>
          </a:xfrm>
          <a:prstGeom prst="ellipse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olos Text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4663440"/>
            <a:ext cx="3054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02882"/>
                </a:solidFill>
                <a:latin typeface="Golos Text"/>
              </a:rPr>
              <a:t>Коменданты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5029200"/>
            <a:ext cx="3054096" cy="356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ru-RU" sz="1080" b="0" i="0" dirty="0">
                <a:solidFill>
                  <a:srgbClr val="1A2233"/>
                </a:solidFill>
                <a:latin typeface="Golos Text"/>
              </a:rPr>
              <a:t>Плановые и внеплановые </a:t>
            </a:r>
            <a:r>
              <a:rPr sz="1080" b="0" i="0" dirty="0" err="1">
                <a:solidFill>
                  <a:srgbClr val="1A2233"/>
                </a:solidFill>
                <a:latin typeface="Golos Text"/>
              </a:rPr>
              <a:t>задачи</a:t>
            </a:r>
            <a:r>
              <a:rPr sz="1080" b="0" i="0" dirty="0">
                <a:solidFill>
                  <a:srgbClr val="1A2233"/>
                </a:solidFill>
                <a:latin typeface="Golos Text"/>
              </a:rPr>
              <a:t> — </a:t>
            </a:r>
            <a:r>
              <a:rPr sz="1080" b="0" i="0" dirty="0" err="1">
                <a:solidFill>
                  <a:srgbClr val="1A2233"/>
                </a:solidFill>
                <a:latin typeface="Golos Text"/>
              </a:rPr>
              <a:t>динамика</a:t>
            </a:r>
            <a:r>
              <a:rPr sz="1080" b="0" i="0" dirty="0">
                <a:solidFill>
                  <a:srgbClr val="1A2233"/>
                </a:solidFill>
                <a:latin typeface="Golos Text"/>
              </a:rPr>
              <a:t> </a:t>
            </a:r>
            <a:r>
              <a:rPr sz="1080" b="0" i="0" dirty="0" err="1">
                <a:solidFill>
                  <a:srgbClr val="1A2233"/>
                </a:solidFill>
                <a:latin typeface="Golos Text"/>
              </a:rPr>
              <a:t>по</a:t>
            </a:r>
            <a:r>
              <a:rPr sz="1080" b="0" i="0" dirty="0">
                <a:solidFill>
                  <a:srgbClr val="1A2233"/>
                </a:solidFill>
                <a:latin typeface="Golos Text"/>
              </a:rPr>
              <a:t> </a:t>
            </a:r>
            <a:r>
              <a:rPr sz="1080" b="0" i="0" dirty="0" err="1">
                <a:solidFill>
                  <a:srgbClr val="1A2233"/>
                </a:solidFill>
                <a:latin typeface="Golos Text"/>
              </a:rPr>
              <a:t>каждому</a:t>
            </a:r>
            <a:r>
              <a:rPr sz="1080" b="0" i="0" dirty="0">
                <a:solidFill>
                  <a:srgbClr val="1A2233"/>
                </a:solidFill>
                <a:latin typeface="Golos Text"/>
              </a:rPr>
              <a:t> </a:t>
            </a:r>
            <a:r>
              <a:rPr sz="1080" b="0" i="0" dirty="0" err="1">
                <a:solidFill>
                  <a:srgbClr val="1A2233"/>
                </a:solidFill>
                <a:latin typeface="Golos Text"/>
              </a:rPr>
              <a:t>коменданту</a:t>
            </a:r>
            <a:endParaRPr sz="1080" b="0" i="0" dirty="0">
              <a:solidFill>
                <a:srgbClr val="1A2233"/>
              </a:solidFill>
              <a:latin typeface="Golos Text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772400" y="3931920"/>
            <a:ext cx="3456432" cy="217627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973568" y="4114800"/>
            <a:ext cx="402336" cy="402336"/>
          </a:xfrm>
          <a:prstGeom prst="ellipse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olos Text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4663440"/>
            <a:ext cx="3054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02882"/>
                </a:solidFill>
                <a:latin typeface="Golos Text"/>
              </a:rPr>
              <a:t>Уборка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5029200"/>
            <a:ext cx="3054096" cy="969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1A2233"/>
                </a:solidFill>
                <a:latin typeface="Golos Text"/>
              </a:rPr>
              <a:t>Плановые задачи по объектам, эффективность выполнения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382512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1">
                <a:solidFill>
                  <a:srgbClr val="5B6B82"/>
                </a:solidFill>
                <a:latin typeface="Golos Text"/>
              </a:rPr>
              <a:t>Bruno: в справочнике 28 объектов, 12 из них без активности за период (тест/дубли) — исключены из отчёта.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Bruno · ВТБ · 30.03–26.07.2026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olos Text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20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02882"/>
                </a:solidFill>
                <a:latin typeface="Golos Text"/>
              </a:rPr>
              <a:t>Внедрение: оклейка QR-кодов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4980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B82"/>
                </a:solidFill>
                <a:latin typeface="Golos Text"/>
              </a:rPr>
              <a:t>Статус по зданиям портфеля на дату отчёта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3456432" cy="443484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91440" cy="566928"/>
          </a:xfrm>
          <a:prstGeom prst="rect">
            <a:avLst/>
          </a:prstGeom>
          <a:solidFill>
            <a:srgbClr val="23A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5" y="1883664"/>
            <a:ext cx="2907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2233"/>
                </a:solidFill>
                <a:latin typeface="Golos Text"/>
              </a:rPr>
              <a:t>Готово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9550" y="1835711"/>
            <a:ext cx="37395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002882"/>
                </a:solidFill>
                <a:latin typeface="Golos Text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90779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A2233"/>
                </a:solidFill>
                <a:latin typeface="Golos Text"/>
              </a:rPr>
              <a:t>•  БФЗ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90779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A2233"/>
                </a:solidFill>
                <a:latin typeface="Golos Text"/>
              </a:rPr>
              <a:t>•  БФВ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90779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A2233"/>
                </a:solidFill>
                <a:latin typeface="Golos Text"/>
              </a:rPr>
              <a:t>•  БЕ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2907791" cy="17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>
                <a:solidFill>
                  <a:srgbClr val="1A2233"/>
                </a:solidFill>
                <a:latin typeface="Golos Text"/>
              </a:rPr>
              <a:t>•  </a:t>
            </a:r>
            <a:r>
              <a:rPr sz="1100" b="0" i="0" dirty="0" err="1">
                <a:solidFill>
                  <a:srgbClr val="1A2233"/>
                </a:solidFill>
                <a:latin typeface="Golos Text"/>
              </a:rPr>
              <a:t>Магистральная</a:t>
            </a:r>
            <a:r>
              <a:rPr lang="ru-RU" sz="1100" b="0" i="0" dirty="0">
                <a:solidFill>
                  <a:srgbClr val="1A2233"/>
                </a:solidFill>
                <a:latin typeface="Golos Text"/>
              </a:rPr>
              <a:t>,</a:t>
            </a:r>
            <a:r>
              <a:rPr sz="1100" b="0" i="0" dirty="0">
                <a:solidFill>
                  <a:srgbClr val="1A2233"/>
                </a:solidFill>
                <a:latin typeface="Golos Text"/>
              </a:rPr>
              <a:t> 25А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2907791" cy="17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>
                <a:solidFill>
                  <a:srgbClr val="1A2233"/>
                </a:solidFill>
                <a:latin typeface="Golos Text"/>
              </a:rPr>
              <a:t>•  </a:t>
            </a:r>
            <a:r>
              <a:rPr sz="1100" b="0" i="0" dirty="0" err="1">
                <a:solidFill>
                  <a:srgbClr val="1A2233"/>
                </a:solidFill>
                <a:latin typeface="Golos Text"/>
              </a:rPr>
              <a:t>Трубная</a:t>
            </a:r>
            <a:r>
              <a:rPr lang="ru-RU" sz="1100" b="0" i="0" dirty="0">
                <a:solidFill>
                  <a:srgbClr val="1A2233"/>
                </a:solidFill>
                <a:latin typeface="Golos Text"/>
              </a:rPr>
              <a:t>,</a:t>
            </a:r>
            <a:r>
              <a:rPr sz="1100" b="0" i="0" dirty="0">
                <a:solidFill>
                  <a:srgbClr val="1A2233"/>
                </a:solidFill>
                <a:latin typeface="Golos Text"/>
              </a:rPr>
              <a:t>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2907791" cy="17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1" dirty="0">
                <a:solidFill>
                  <a:srgbClr val="1A2233"/>
                </a:solidFill>
                <a:latin typeface="Golos Text"/>
              </a:rPr>
              <a:t>•  </a:t>
            </a:r>
            <a:r>
              <a:rPr lang="ru-RU" sz="1100" b="1" i="1" dirty="0">
                <a:solidFill>
                  <a:srgbClr val="1A2233"/>
                </a:solidFill>
                <a:latin typeface="Golos Text"/>
              </a:rPr>
              <a:t>3-я </a:t>
            </a:r>
            <a:r>
              <a:rPr sz="1100" b="1" i="1" dirty="0" err="1">
                <a:solidFill>
                  <a:srgbClr val="1A2233"/>
                </a:solidFill>
                <a:latin typeface="Golos Text"/>
              </a:rPr>
              <a:t>Рыбинская</a:t>
            </a:r>
            <a:r>
              <a:rPr lang="ru-RU" sz="1100" b="1" i="1" dirty="0">
                <a:solidFill>
                  <a:srgbClr val="1A2233"/>
                </a:solidFill>
                <a:latin typeface="Golos Text"/>
              </a:rPr>
              <a:t>,</a:t>
            </a:r>
            <a:r>
              <a:rPr sz="1100" b="1" i="1" dirty="0">
                <a:solidFill>
                  <a:srgbClr val="1A2233"/>
                </a:solidFill>
                <a:latin typeface="Golos Text"/>
              </a:rPr>
              <a:t> 18</a:t>
            </a:r>
            <a:r>
              <a:rPr lang="ru-RU" sz="1100" b="1" i="1" dirty="0">
                <a:solidFill>
                  <a:srgbClr val="1A2233"/>
                </a:solidFill>
                <a:latin typeface="Golos Text"/>
              </a:rPr>
              <a:t> </a:t>
            </a:r>
            <a:r>
              <a:rPr lang="ru-RU" sz="1100" b="1" i="1" dirty="0" err="1">
                <a:solidFill>
                  <a:srgbClr val="1A2233"/>
                </a:solidFill>
                <a:latin typeface="Golos Text"/>
              </a:rPr>
              <a:t>стр</a:t>
            </a:r>
            <a:r>
              <a:rPr lang="ru-RU" sz="1100" b="1" i="1" dirty="0">
                <a:solidFill>
                  <a:srgbClr val="1A2233"/>
                </a:solidFill>
                <a:latin typeface="Golos Text"/>
              </a:rPr>
              <a:t> 5</a:t>
            </a:r>
            <a:endParaRPr sz="1100" b="1" i="1" dirty="0">
              <a:solidFill>
                <a:srgbClr val="1A2233"/>
              </a:solidFill>
              <a:latin typeface="Golos Tex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2907791" cy="17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1" dirty="0">
                <a:solidFill>
                  <a:srgbClr val="1A2233"/>
                </a:solidFill>
                <a:latin typeface="Golos Text"/>
              </a:rPr>
              <a:t>•  </a:t>
            </a:r>
            <a:r>
              <a:rPr lang="ru-RU" sz="1100" b="1" i="1" dirty="0">
                <a:solidFill>
                  <a:srgbClr val="1A2233"/>
                </a:solidFill>
                <a:latin typeface="Golos Text"/>
              </a:rPr>
              <a:t>2-ой </a:t>
            </a:r>
            <a:r>
              <a:rPr sz="1100" b="1" i="1" dirty="0" err="1">
                <a:solidFill>
                  <a:srgbClr val="1A2233"/>
                </a:solidFill>
                <a:latin typeface="Golos Text"/>
              </a:rPr>
              <a:t>Южнопортовый</a:t>
            </a:r>
            <a:r>
              <a:rPr lang="ru-RU" sz="1100" b="1" i="1" dirty="0">
                <a:solidFill>
                  <a:srgbClr val="1A2233"/>
                </a:solidFill>
                <a:latin typeface="Golos Text"/>
              </a:rPr>
              <a:t>,</a:t>
            </a:r>
            <a:r>
              <a:rPr sz="1100" b="1" i="1" dirty="0">
                <a:solidFill>
                  <a:srgbClr val="1A2233"/>
                </a:solidFill>
                <a:latin typeface="Golos Text"/>
              </a:rPr>
              <a:t> 18</a:t>
            </a:r>
            <a:r>
              <a:rPr lang="ru-RU" sz="1100" b="1" i="1" dirty="0">
                <a:solidFill>
                  <a:srgbClr val="1A2233"/>
                </a:solidFill>
                <a:latin typeface="Golos Text"/>
              </a:rPr>
              <a:t> </a:t>
            </a:r>
            <a:r>
              <a:rPr lang="ru-RU" sz="1100" b="1" i="1" dirty="0" err="1">
                <a:solidFill>
                  <a:srgbClr val="1A2233"/>
                </a:solidFill>
                <a:latin typeface="Golos Text"/>
              </a:rPr>
              <a:t>стр</a:t>
            </a:r>
            <a:r>
              <a:rPr lang="ru-RU" sz="1100" b="1" i="1" dirty="0">
                <a:solidFill>
                  <a:srgbClr val="1A2233"/>
                </a:solidFill>
                <a:latin typeface="Golos Text"/>
              </a:rPr>
              <a:t> 1</a:t>
            </a:r>
            <a:endParaRPr sz="1100" b="1" i="1" dirty="0">
              <a:solidFill>
                <a:srgbClr val="1A2233"/>
              </a:solidFill>
              <a:latin typeface="Golos Text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147279" y="1631442"/>
            <a:ext cx="3456432" cy="443484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34255" y="1801368"/>
            <a:ext cx="91440" cy="5669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35424" y="1858518"/>
            <a:ext cx="2907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 err="1">
                <a:solidFill>
                  <a:srgbClr val="1A2233"/>
                </a:solidFill>
                <a:latin typeface="Golos Text"/>
              </a:rPr>
              <a:t>На</a:t>
            </a:r>
            <a:r>
              <a:rPr sz="1500" b="1" i="0" dirty="0">
                <a:solidFill>
                  <a:srgbClr val="1A2233"/>
                </a:solidFill>
                <a:latin typeface="Golos Text"/>
              </a:rPr>
              <a:t> </a:t>
            </a:r>
            <a:r>
              <a:rPr sz="1500" b="1" i="0" dirty="0" err="1">
                <a:solidFill>
                  <a:srgbClr val="1A2233"/>
                </a:solidFill>
                <a:latin typeface="Golos Text"/>
              </a:rPr>
              <a:t>оклейке</a:t>
            </a:r>
            <a:endParaRPr sz="1500" b="1" i="0" dirty="0">
              <a:solidFill>
                <a:srgbClr val="1A2233"/>
              </a:solidFill>
              <a:latin typeface="Golos Tex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11924" y="1796796"/>
            <a:ext cx="29077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002882"/>
                </a:solidFill>
                <a:latin typeface="Golos Tex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7" y="2743200"/>
            <a:ext cx="2907791" cy="17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>
                <a:solidFill>
                  <a:srgbClr val="1A2233"/>
                </a:solidFill>
                <a:latin typeface="Golos Text"/>
              </a:rPr>
              <a:t>•  </a:t>
            </a:r>
            <a:r>
              <a:rPr sz="1100" b="0" i="0" dirty="0" err="1">
                <a:solidFill>
                  <a:srgbClr val="1A2233"/>
                </a:solidFill>
                <a:latin typeface="Golos Text"/>
              </a:rPr>
              <a:t>Воронцовская</a:t>
            </a:r>
            <a:r>
              <a:rPr lang="ru-RU" sz="1100" b="0" i="0" dirty="0">
                <a:solidFill>
                  <a:srgbClr val="1A2233"/>
                </a:solidFill>
                <a:latin typeface="Golos Text"/>
              </a:rPr>
              <a:t>,</a:t>
            </a:r>
            <a:r>
              <a:rPr sz="1100" b="0" i="0" dirty="0">
                <a:solidFill>
                  <a:srgbClr val="1A2233"/>
                </a:solidFill>
                <a:latin typeface="Golos Text"/>
              </a:rPr>
              <a:t> 43А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7" y="3200400"/>
            <a:ext cx="2907791" cy="17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>
                <a:solidFill>
                  <a:srgbClr val="1A2233"/>
                </a:solidFill>
                <a:latin typeface="Golos Text"/>
              </a:rPr>
              <a:t>•  </a:t>
            </a:r>
            <a:r>
              <a:rPr sz="1100" b="0" i="0" dirty="0" err="1">
                <a:solidFill>
                  <a:srgbClr val="1A2233"/>
                </a:solidFill>
                <a:latin typeface="Golos Text"/>
              </a:rPr>
              <a:t>Воронцовская</a:t>
            </a:r>
            <a:r>
              <a:rPr lang="ru-RU" sz="1100" b="0" i="0" dirty="0">
                <a:solidFill>
                  <a:srgbClr val="1A2233"/>
                </a:solidFill>
                <a:latin typeface="Golos Text"/>
              </a:rPr>
              <a:t>,</a:t>
            </a:r>
            <a:r>
              <a:rPr sz="1100" b="0" i="0" dirty="0">
                <a:solidFill>
                  <a:srgbClr val="1A2233"/>
                </a:solidFill>
                <a:latin typeface="Golos Text"/>
              </a:rPr>
              <a:t> 43Б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2145792"/>
            <a:ext cx="29077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 dirty="0" err="1">
                <a:solidFill>
                  <a:srgbClr val="5B6B82"/>
                </a:solidFill>
                <a:latin typeface="Golos Text"/>
              </a:rPr>
              <a:t>до</a:t>
            </a:r>
            <a:r>
              <a:rPr sz="1050" b="0" i="1" dirty="0">
                <a:solidFill>
                  <a:srgbClr val="5B6B82"/>
                </a:solidFill>
                <a:latin typeface="Golos Text"/>
              </a:rPr>
              <a:t> 31.07.2026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08975" y="1600200"/>
            <a:ext cx="3456432" cy="443484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10144" y="1801368"/>
            <a:ext cx="91440" cy="566928"/>
          </a:xfrm>
          <a:prstGeom prst="rect">
            <a:avLst/>
          </a:prstGeom>
          <a:solidFill>
            <a:srgbClr val="5B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87415" y="1869757"/>
            <a:ext cx="2907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2233"/>
                </a:solidFill>
                <a:latin typeface="Golos Text"/>
              </a:rPr>
              <a:t>В типографии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7193" y="1808988"/>
            <a:ext cx="503113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002882"/>
                </a:solidFill>
                <a:latin typeface="Golos Text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2743200"/>
            <a:ext cx="2907791" cy="17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>
                <a:solidFill>
                  <a:srgbClr val="1A2233"/>
                </a:solidFill>
                <a:latin typeface="Golos Text"/>
              </a:rPr>
              <a:t>•  </a:t>
            </a:r>
            <a:r>
              <a:rPr sz="1100" b="0" i="0" dirty="0" err="1">
                <a:solidFill>
                  <a:srgbClr val="1A2233"/>
                </a:solidFill>
                <a:latin typeface="Golos Text"/>
              </a:rPr>
              <a:t>Воздвиженка</a:t>
            </a:r>
            <a:r>
              <a:rPr lang="ru-RU" sz="1100" b="0" i="0" dirty="0">
                <a:solidFill>
                  <a:srgbClr val="1A2233"/>
                </a:solidFill>
                <a:latin typeface="Golos Text"/>
              </a:rPr>
              <a:t>,</a:t>
            </a:r>
            <a:r>
              <a:rPr sz="1100" b="0" i="0" dirty="0">
                <a:solidFill>
                  <a:srgbClr val="1A2233"/>
                </a:solidFill>
                <a:latin typeface="Golos Text"/>
              </a:rPr>
              <a:t>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200400"/>
            <a:ext cx="290779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A2233"/>
                </a:solidFill>
                <a:latin typeface="Golos Text"/>
              </a:rPr>
              <a:t>•  Зотов «Центр» (50%)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657600"/>
            <a:ext cx="2907791" cy="17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>
                <a:solidFill>
                  <a:srgbClr val="1A2233"/>
                </a:solidFill>
                <a:latin typeface="Golos Text"/>
              </a:rPr>
              <a:t>•  </a:t>
            </a:r>
            <a:r>
              <a:rPr sz="1100" b="0" i="0" dirty="0" err="1">
                <a:solidFill>
                  <a:srgbClr val="1A2233"/>
                </a:solidFill>
                <a:latin typeface="Golos Text"/>
              </a:rPr>
              <a:t>Пакгаузное</a:t>
            </a:r>
            <a:r>
              <a:rPr lang="ru-RU" sz="1100" b="0" i="0" dirty="0">
                <a:solidFill>
                  <a:srgbClr val="1A2233"/>
                </a:solidFill>
                <a:latin typeface="Golos Text"/>
              </a:rPr>
              <a:t>,</a:t>
            </a:r>
            <a:r>
              <a:rPr sz="1100" b="0" i="0" dirty="0">
                <a:solidFill>
                  <a:srgbClr val="1A2233"/>
                </a:solidFill>
                <a:latin typeface="Golos Text"/>
              </a:rPr>
              <a:t>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4114800"/>
            <a:ext cx="2907791" cy="17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>
                <a:solidFill>
                  <a:srgbClr val="1A2233"/>
                </a:solidFill>
                <a:latin typeface="Golos Text"/>
              </a:rPr>
              <a:t>•  </a:t>
            </a:r>
            <a:r>
              <a:rPr sz="1100" b="0" i="0" dirty="0" err="1">
                <a:solidFill>
                  <a:srgbClr val="1A2233"/>
                </a:solidFill>
                <a:latin typeface="Golos Text"/>
              </a:rPr>
              <a:t>Перовское</a:t>
            </a:r>
            <a:r>
              <a:rPr lang="ru-RU" sz="1100" b="0" i="0" dirty="0">
                <a:solidFill>
                  <a:srgbClr val="1A2233"/>
                </a:solidFill>
                <a:latin typeface="Golos Text"/>
              </a:rPr>
              <a:t>,</a:t>
            </a:r>
            <a:r>
              <a:rPr sz="1100" b="0" i="0" dirty="0">
                <a:solidFill>
                  <a:srgbClr val="1A2233"/>
                </a:solidFill>
                <a:latin typeface="Golos Text"/>
              </a:rPr>
              <a:t>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4572000"/>
            <a:ext cx="2907791" cy="17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>
                <a:solidFill>
                  <a:srgbClr val="1A2233"/>
                </a:solidFill>
                <a:latin typeface="Golos Text"/>
              </a:rPr>
              <a:t>•  </a:t>
            </a:r>
            <a:r>
              <a:rPr sz="1100" b="0" i="0" dirty="0" err="1">
                <a:solidFill>
                  <a:srgbClr val="1A2233"/>
                </a:solidFill>
                <a:latin typeface="Golos Text"/>
              </a:rPr>
              <a:t>Днепропетровский</a:t>
            </a:r>
            <a:r>
              <a:rPr lang="ru-RU" sz="1100" b="0" i="0" dirty="0">
                <a:solidFill>
                  <a:srgbClr val="1A2233"/>
                </a:solidFill>
                <a:latin typeface="Golos Text"/>
              </a:rPr>
              <a:t>,</a:t>
            </a:r>
            <a:r>
              <a:rPr sz="1100" b="0" i="0" dirty="0">
                <a:solidFill>
                  <a:srgbClr val="1A2233"/>
                </a:solidFill>
                <a:latin typeface="Golos Text"/>
              </a:rPr>
              <a:t> 4А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7415" y="2158746"/>
            <a:ext cx="29077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 dirty="0" err="1">
                <a:solidFill>
                  <a:srgbClr val="5B6B82"/>
                </a:solidFill>
                <a:latin typeface="Golos Text"/>
              </a:rPr>
              <a:t>до</a:t>
            </a:r>
            <a:r>
              <a:rPr sz="1050" b="0" i="1" dirty="0">
                <a:solidFill>
                  <a:srgbClr val="5B6B82"/>
                </a:solidFill>
                <a:latin typeface="Golos Text"/>
              </a:rPr>
              <a:t> 24.07.2026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172200"/>
            <a:ext cx="103327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sz="950" b="1" i="1" dirty="0">
                <a:solidFill>
                  <a:srgbClr val="5B6B82"/>
                </a:solidFill>
                <a:latin typeface="Golos Text"/>
              </a:rPr>
              <a:t>*</a:t>
            </a:r>
            <a:r>
              <a:rPr lang="ru-RU" sz="950" b="1" i="1" dirty="0" err="1">
                <a:solidFill>
                  <a:srgbClr val="5B6B82"/>
                </a:solidFill>
                <a:latin typeface="Golos Text"/>
              </a:rPr>
              <a:t>реализованны</a:t>
            </a:r>
            <a:r>
              <a:rPr lang="ru-RU" sz="950" b="1" i="1" dirty="0">
                <a:solidFill>
                  <a:srgbClr val="5B6B82"/>
                </a:solidFill>
                <a:latin typeface="Golos Text"/>
              </a:rPr>
              <a:t> за последний месяц</a:t>
            </a:r>
            <a:endParaRPr sz="950" b="1" i="1" dirty="0">
              <a:solidFill>
                <a:srgbClr val="5B6B82"/>
              </a:solidFill>
              <a:latin typeface="Golos Tex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Bruno · ВТБ · 30.03–26.07.2026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tree_shapes.png">
            <a:extLst>
              <a:ext uri="{FF2B5EF4-FFF2-40B4-BE49-F238E27FC236}">
                <a16:creationId xmlns:a16="http://schemas.microsoft.com/office/drawing/2014/main" id="{6042E318-F5D8-35CE-0F64-5E00576FC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523" y="1417320"/>
            <a:ext cx="9756648" cy="4434840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olos Text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20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02882"/>
                </a:solidFill>
                <a:latin typeface="Golos Text"/>
              </a:rPr>
              <a:t>Плановые и неплановые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4980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B82"/>
                </a:solidFill>
                <a:latin typeface="Golos Text"/>
              </a:rPr>
              <a:t>Структура портфеля по типу постановки и конверсия обращений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0223" y="3368649"/>
            <a:ext cx="1951329" cy="2660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Golos Text"/>
              </a:rPr>
              <a:t>Все задачи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0223" y="3723436"/>
            <a:ext cx="1951329" cy="2660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Golos Text"/>
              </a:rPr>
              <a:t>1 058 636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9650" y="1927326"/>
            <a:ext cx="2056701" cy="1773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Golos Text"/>
              </a:rPr>
              <a:t>Плановые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9650" y="2215591"/>
            <a:ext cx="2056701" cy="155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Golos Text"/>
              </a:rPr>
              <a:t>1 057 180 задач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9650" y="2459507"/>
            <a:ext cx="2056701" cy="1419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Golos Text"/>
              </a:rPr>
              <a:t>эфф. 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3725" y="4056049"/>
            <a:ext cx="12098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 i="0" dirty="0" err="1">
                <a:solidFill>
                  <a:srgbClr val="FFFFFF"/>
                </a:solidFill>
                <a:latin typeface="Golos Text"/>
              </a:rPr>
              <a:t>Задач</a:t>
            </a:r>
            <a:r>
              <a:rPr sz="620" b="0" i="0" dirty="0">
                <a:solidFill>
                  <a:srgbClr val="FFFFFF"/>
                </a:solidFill>
                <a:latin typeface="Golos Text"/>
              </a:rPr>
              <a:t> в </a:t>
            </a:r>
            <a:r>
              <a:rPr sz="620" b="0" i="0" dirty="0" err="1">
                <a:solidFill>
                  <a:srgbClr val="FFFFFF"/>
                </a:solidFill>
                <a:latin typeface="Golos Text"/>
              </a:rPr>
              <a:t>месяц</a:t>
            </a:r>
            <a:r>
              <a:rPr sz="620" b="0" i="0" dirty="0">
                <a:solidFill>
                  <a:srgbClr val="FFFFFF"/>
                </a:solidFill>
                <a:latin typeface="Golos Text"/>
              </a:rPr>
              <a:t> (</a:t>
            </a:r>
            <a:r>
              <a:rPr sz="620" b="0" i="0" dirty="0" err="1">
                <a:solidFill>
                  <a:srgbClr val="FFFFFF"/>
                </a:solidFill>
                <a:latin typeface="Golos Text"/>
              </a:rPr>
              <a:t>столбцы</a:t>
            </a:r>
            <a:r>
              <a:rPr sz="620" b="0" i="0" dirty="0">
                <a:solidFill>
                  <a:srgbClr val="FFFFFF"/>
                </a:solidFill>
                <a:latin typeface="Golos Tex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3549" y="4056049"/>
            <a:ext cx="12098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20" b="0" i="0" dirty="0" err="1">
                <a:solidFill>
                  <a:srgbClr val="FFFFFF"/>
                </a:solidFill>
                <a:latin typeface="Golos Text"/>
              </a:rPr>
              <a:t>Эффективность</a:t>
            </a:r>
            <a:r>
              <a:rPr sz="620" b="0" i="0" dirty="0">
                <a:solidFill>
                  <a:srgbClr val="FFFFFF"/>
                </a:solidFill>
                <a:latin typeface="Golos Text"/>
              </a:rPr>
              <a:t>, % (</a:t>
            </a:r>
            <a:r>
              <a:rPr sz="620" b="0" i="0" dirty="0" err="1">
                <a:solidFill>
                  <a:srgbClr val="FFFFFF"/>
                </a:solidFill>
                <a:latin typeface="Golos Text"/>
              </a:rPr>
              <a:t>линия</a:t>
            </a:r>
            <a:r>
              <a:rPr sz="620" b="0" i="0" dirty="0">
                <a:solidFill>
                  <a:srgbClr val="FFFFFF"/>
                </a:solidFill>
                <a:latin typeface="Golos Text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9650" y="4056049"/>
            <a:ext cx="2056701" cy="1773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Golos Text"/>
              </a:rPr>
              <a:t>Неплановые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9650" y="4344314"/>
            <a:ext cx="2056701" cy="155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Golos Text"/>
              </a:rPr>
              <a:t>1 456 задач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9650" y="4588230"/>
            <a:ext cx="2056701" cy="1419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Golos Text"/>
              </a:rPr>
              <a:t>эфф. 69%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9650" y="4809972"/>
            <a:ext cx="2056701" cy="30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 dirty="0" err="1">
                <a:solidFill>
                  <a:srgbClr val="FFFFFF"/>
                </a:solidFill>
                <a:latin typeface="Golos Text"/>
              </a:rPr>
              <a:t>Обращений</a:t>
            </a:r>
            <a:r>
              <a:rPr sz="800" b="0" i="0" dirty="0">
                <a:solidFill>
                  <a:srgbClr val="FFFFFF"/>
                </a:solidFill>
                <a:latin typeface="Golos Text"/>
              </a:rPr>
              <a:t>: 1 219 · </a:t>
            </a:r>
            <a:r>
              <a:rPr sz="800" b="0" i="0" dirty="0" err="1">
                <a:solidFill>
                  <a:srgbClr val="FFFFFF"/>
                </a:solidFill>
                <a:latin typeface="Golos Text"/>
              </a:rPr>
              <a:t>неплановых</a:t>
            </a:r>
            <a:r>
              <a:rPr sz="800" b="0" i="0" dirty="0">
                <a:solidFill>
                  <a:srgbClr val="FFFFFF"/>
                </a:solidFill>
                <a:latin typeface="Golos Text"/>
              </a:rPr>
              <a:t> </a:t>
            </a:r>
            <a:r>
              <a:rPr sz="800" b="0" i="0" dirty="0" err="1">
                <a:solidFill>
                  <a:srgbClr val="FFFFFF"/>
                </a:solidFill>
                <a:latin typeface="Golos Text"/>
              </a:rPr>
              <a:t>задач</a:t>
            </a:r>
            <a:r>
              <a:rPr sz="800" b="0" i="0" dirty="0">
                <a:solidFill>
                  <a:srgbClr val="FFFFFF"/>
                </a:solidFill>
                <a:latin typeface="Golos Text"/>
              </a:rPr>
              <a:t> </a:t>
            </a:r>
            <a:r>
              <a:rPr sz="800" b="0" i="0" dirty="0" err="1">
                <a:solidFill>
                  <a:srgbClr val="FFFFFF"/>
                </a:solidFill>
                <a:latin typeface="Golos Text"/>
              </a:rPr>
              <a:t>по</a:t>
            </a:r>
            <a:r>
              <a:rPr sz="800" b="0" i="0" dirty="0">
                <a:solidFill>
                  <a:srgbClr val="FFFFFF"/>
                </a:solidFill>
                <a:latin typeface="Golos Text"/>
              </a:rPr>
              <a:t> </a:t>
            </a:r>
            <a:r>
              <a:rPr sz="800" b="0" i="0" dirty="0" err="1">
                <a:solidFill>
                  <a:srgbClr val="FFFFFF"/>
                </a:solidFill>
                <a:latin typeface="Golos Text"/>
              </a:rPr>
              <a:t>обращениям</a:t>
            </a:r>
            <a:r>
              <a:rPr sz="800" b="0" i="0" dirty="0">
                <a:solidFill>
                  <a:srgbClr val="FFFFFF"/>
                </a:solidFill>
                <a:latin typeface="Golos Text"/>
              </a:rPr>
              <a:t>/</a:t>
            </a:r>
            <a:r>
              <a:rPr sz="800" b="0" i="0" dirty="0" err="1">
                <a:solidFill>
                  <a:srgbClr val="FFFFFF"/>
                </a:solidFill>
                <a:latin typeface="Golos Text"/>
              </a:rPr>
              <a:t>заявкам</a:t>
            </a:r>
            <a:r>
              <a:rPr sz="800" b="0" i="0" dirty="0">
                <a:solidFill>
                  <a:srgbClr val="FFFFFF"/>
                </a:solidFill>
                <a:latin typeface="Golos Text"/>
              </a:rPr>
              <a:t>: 1 456 (119%)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91072"/>
            <a:ext cx="103327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 dirty="0" err="1">
                <a:solidFill>
                  <a:srgbClr val="5B6B82"/>
                </a:solidFill>
                <a:latin typeface="Golos Text"/>
              </a:rPr>
              <a:t>Конверсия</a:t>
            </a:r>
            <a:r>
              <a:rPr sz="85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50" b="0" i="1" dirty="0" err="1">
                <a:solidFill>
                  <a:srgbClr val="5B6B82"/>
                </a:solidFill>
                <a:latin typeface="Golos Text"/>
              </a:rPr>
              <a:t>обращений</a:t>
            </a:r>
            <a:r>
              <a:rPr sz="850" b="0" i="1" dirty="0">
                <a:solidFill>
                  <a:srgbClr val="5B6B82"/>
                </a:solidFill>
                <a:latin typeface="Golos Text"/>
              </a:rPr>
              <a:t> в </a:t>
            </a:r>
            <a:r>
              <a:rPr sz="850" b="0" i="1" dirty="0" err="1">
                <a:solidFill>
                  <a:srgbClr val="5B6B82"/>
                </a:solidFill>
                <a:latin typeface="Golos Text"/>
              </a:rPr>
              <a:t>задачи</a:t>
            </a:r>
            <a:r>
              <a:rPr sz="85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50" b="0" i="1" dirty="0" err="1">
                <a:solidFill>
                  <a:srgbClr val="5B6B82"/>
                </a:solidFill>
                <a:latin typeface="Golos Text"/>
              </a:rPr>
              <a:t>может</a:t>
            </a:r>
            <a:r>
              <a:rPr sz="85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50" b="0" i="1" dirty="0" err="1">
                <a:solidFill>
                  <a:srgbClr val="5B6B82"/>
                </a:solidFill>
                <a:latin typeface="Golos Text"/>
              </a:rPr>
              <a:t>превышать</a:t>
            </a:r>
            <a:r>
              <a:rPr sz="850" b="0" i="1" dirty="0">
                <a:solidFill>
                  <a:srgbClr val="5B6B82"/>
                </a:solidFill>
                <a:latin typeface="Golos Text"/>
              </a:rPr>
              <a:t> 100% — </a:t>
            </a:r>
            <a:r>
              <a:rPr sz="850" b="0" i="1" dirty="0" err="1">
                <a:solidFill>
                  <a:srgbClr val="5B6B82"/>
                </a:solidFill>
                <a:latin typeface="Golos Text"/>
              </a:rPr>
              <a:t>необращённая</a:t>
            </a:r>
            <a:r>
              <a:rPr sz="85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50" b="0" i="1" dirty="0" err="1">
                <a:solidFill>
                  <a:srgbClr val="5B6B82"/>
                </a:solidFill>
                <a:latin typeface="Golos Text"/>
              </a:rPr>
              <a:t>заявка</a:t>
            </a:r>
            <a:r>
              <a:rPr sz="85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50" b="0" i="1" dirty="0" err="1">
                <a:solidFill>
                  <a:srgbClr val="5B6B82"/>
                </a:solidFill>
                <a:latin typeface="Golos Text"/>
              </a:rPr>
              <a:t>может</a:t>
            </a:r>
            <a:r>
              <a:rPr sz="85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50" b="0" i="1" dirty="0" err="1">
                <a:solidFill>
                  <a:srgbClr val="5B6B82"/>
                </a:solidFill>
                <a:latin typeface="Golos Text"/>
              </a:rPr>
              <a:t>формироваться</a:t>
            </a:r>
            <a:r>
              <a:rPr sz="85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50" b="0" i="1" dirty="0" err="1">
                <a:solidFill>
                  <a:srgbClr val="5B6B82"/>
                </a:solidFill>
                <a:latin typeface="Golos Text"/>
              </a:rPr>
              <a:t>повторно</a:t>
            </a:r>
            <a:r>
              <a:rPr sz="85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50" b="0" i="1" dirty="0" err="1">
                <a:solidFill>
                  <a:srgbClr val="5B6B82"/>
                </a:solidFill>
                <a:latin typeface="Golos Text"/>
              </a:rPr>
              <a:t>на</a:t>
            </a:r>
            <a:r>
              <a:rPr sz="85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50" b="0" i="1" dirty="0" err="1">
                <a:solidFill>
                  <a:srgbClr val="5B6B82"/>
                </a:solidFill>
                <a:latin typeface="Golos Text"/>
              </a:rPr>
              <a:t>следующий</a:t>
            </a:r>
            <a:r>
              <a:rPr sz="85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50" b="0" i="1" dirty="0" err="1">
                <a:solidFill>
                  <a:srgbClr val="5B6B82"/>
                </a:solidFill>
                <a:latin typeface="Golos Text"/>
              </a:rPr>
              <a:t>день</a:t>
            </a:r>
            <a:r>
              <a:rPr sz="85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50" b="0" i="1" dirty="0" err="1">
                <a:solidFill>
                  <a:srgbClr val="5B6B82"/>
                </a:solidFill>
                <a:latin typeface="Golos Text"/>
              </a:rPr>
              <a:t>выгрузки</a:t>
            </a:r>
            <a:r>
              <a:rPr sz="850" b="0" i="1" dirty="0">
                <a:solidFill>
                  <a:srgbClr val="5B6B82"/>
                </a:solidFill>
                <a:latin typeface="Golos Text"/>
              </a:rPr>
              <a:t>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Bruno · ВТБ · 30.03–26.07.2026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962D25-F099-2775-46F7-E054C129166D}"/>
              </a:ext>
            </a:extLst>
          </p:cNvPr>
          <p:cNvSpPr txBox="1"/>
          <p:nvPr/>
        </p:nvSpPr>
        <p:spPr>
          <a:xfrm>
            <a:off x="7346144" y="2004135"/>
            <a:ext cx="12098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 i="0" dirty="0" err="1">
                <a:solidFill>
                  <a:srgbClr val="FFFFFF"/>
                </a:solidFill>
                <a:latin typeface="Golos Text"/>
              </a:rPr>
              <a:t>Задач</a:t>
            </a:r>
            <a:r>
              <a:rPr sz="620" b="0" i="0" dirty="0">
                <a:solidFill>
                  <a:srgbClr val="FFFFFF"/>
                </a:solidFill>
                <a:latin typeface="Golos Text"/>
              </a:rPr>
              <a:t> в </a:t>
            </a:r>
            <a:r>
              <a:rPr sz="620" b="0" i="0" dirty="0" err="1">
                <a:solidFill>
                  <a:srgbClr val="FFFFFF"/>
                </a:solidFill>
                <a:latin typeface="Golos Text"/>
              </a:rPr>
              <a:t>месяц</a:t>
            </a:r>
            <a:r>
              <a:rPr sz="620" b="0" i="0" dirty="0">
                <a:solidFill>
                  <a:srgbClr val="FFFFFF"/>
                </a:solidFill>
                <a:latin typeface="Golos Text"/>
              </a:rPr>
              <a:t> (</a:t>
            </a:r>
            <a:r>
              <a:rPr sz="620" b="0" i="0" dirty="0" err="1">
                <a:solidFill>
                  <a:srgbClr val="FFFFFF"/>
                </a:solidFill>
                <a:latin typeface="Golos Text"/>
              </a:rPr>
              <a:t>столбцы</a:t>
            </a:r>
            <a:r>
              <a:rPr sz="620" b="0" i="0" dirty="0">
                <a:solidFill>
                  <a:srgbClr val="FFFFFF"/>
                </a:solidFill>
                <a:latin typeface="Golos Text"/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232E44-B0F2-263A-17A9-9E1D20A44B3E}"/>
              </a:ext>
            </a:extLst>
          </p:cNvPr>
          <p:cNvSpPr txBox="1"/>
          <p:nvPr/>
        </p:nvSpPr>
        <p:spPr>
          <a:xfrm>
            <a:off x="8555968" y="2004135"/>
            <a:ext cx="12098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20" b="0" i="0" dirty="0" err="1">
                <a:solidFill>
                  <a:srgbClr val="FFFFFF"/>
                </a:solidFill>
                <a:latin typeface="Golos Text"/>
              </a:rPr>
              <a:t>Эффективность</a:t>
            </a:r>
            <a:r>
              <a:rPr sz="620" b="0" i="0" dirty="0">
                <a:solidFill>
                  <a:srgbClr val="FFFFFF"/>
                </a:solidFill>
                <a:latin typeface="Golos Text"/>
              </a:rPr>
              <a:t>, % (</a:t>
            </a:r>
            <a:r>
              <a:rPr sz="620" b="0" i="0" dirty="0" err="1">
                <a:solidFill>
                  <a:srgbClr val="FFFFFF"/>
                </a:solidFill>
                <a:latin typeface="Golos Text"/>
              </a:rPr>
              <a:t>линия</a:t>
            </a:r>
            <a:r>
              <a:rPr sz="620" b="0" i="0" dirty="0">
                <a:solidFill>
                  <a:srgbClr val="FFFFFF"/>
                </a:solidFill>
                <a:latin typeface="Golos Text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olos Text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20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02882"/>
                </a:solidFill>
                <a:latin typeface="Golos Text"/>
              </a:rPr>
              <a:t>Динамика обращений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49808"/>
            <a:ext cx="96012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 dirty="0" err="1">
                <a:solidFill>
                  <a:srgbClr val="5B6B82"/>
                </a:solidFill>
                <a:latin typeface="Golos Text"/>
              </a:rPr>
              <a:t>Обращения</a:t>
            </a:r>
            <a:r>
              <a:rPr sz="1250" b="0" i="0" dirty="0">
                <a:solidFill>
                  <a:srgbClr val="5B6B82"/>
                </a:solidFill>
                <a:latin typeface="Golos Text"/>
              </a:rPr>
              <a:t> </a:t>
            </a:r>
            <a:r>
              <a:rPr sz="1250" b="0" i="0" dirty="0" err="1">
                <a:solidFill>
                  <a:srgbClr val="5B6B82"/>
                </a:solidFill>
                <a:latin typeface="Golos Text"/>
              </a:rPr>
              <a:t>сотрудников</a:t>
            </a:r>
            <a:r>
              <a:rPr sz="1250" b="0" i="0" dirty="0">
                <a:solidFill>
                  <a:srgbClr val="5B6B82"/>
                </a:solidFill>
                <a:latin typeface="Golos Text"/>
              </a:rPr>
              <a:t> </a:t>
            </a:r>
            <a:r>
              <a:rPr sz="1250" b="0" i="0" dirty="0" err="1">
                <a:solidFill>
                  <a:srgbClr val="5B6B82"/>
                </a:solidFill>
                <a:latin typeface="Golos Text"/>
              </a:rPr>
              <a:t>по</a:t>
            </a:r>
            <a:r>
              <a:rPr sz="1250" b="0" i="0" dirty="0">
                <a:solidFill>
                  <a:srgbClr val="5B6B82"/>
                </a:solidFill>
                <a:latin typeface="Golos Text"/>
              </a:rPr>
              <a:t> QR-</a:t>
            </a:r>
            <a:r>
              <a:rPr sz="1250" b="0" i="0" dirty="0" err="1">
                <a:solidFill>
                  <a:srgbClr val="5B6B82"/>
                </a:solidFill>
                <a:latin typeface="Golos Text"/>
              </a:rPr>
              <a:t>кодам</a:t>
            </a:r>
            <a:r>
              <a:rPr sz="1250" b="0" i="0" dirty="0">
                <a:solidFill>
                  <a:srgbClr val="5B6B82"/>
                </a:solidFill>
                <a:latin typeface="Golos Text"/>
              </a:rPr>
              <a:t>, </a:t>
            </a:r>
            <a:r>
              <a:rPr sz="1250" b="0" i="0" dirty="0" err="1">
                <a:solidFill>
                  <a:srgbClr val="5B6B82"/>
                </a:solidFill>
                <a:latin typeface="Golos Text"/>
              </a:rPr>
              <a:t>по</a:t>
            </a:r>
            <a:r>
              <a:rPr sz="1250" b="0" i="0" dirty="0">
                <a:solidFill>
                  <a:srgbClr val="5B6B82"/>
                </a:solidFill>
                <a:latin typeface="Golos Text"/>
              </a:rPr>
              <a:t> </a:t>
            </a:r>
            <a:r>
              <a:rPr sz="1250" b="0" i="0" dirty="0" err="1">
                <a:solidFill>
                  <a:srgbClr val="5B6B82"/>
                </a:solidFill>
                <a:latin typeface="Golos Text"/>
              </a:rPr>
              <a:t>объектам</a:t>
            </a:r>
            <a:r>
              <a:rPr sz="1250" b="0" i="0" dirty="0">
                <a:solidFill>
                  <a:srgbClr val="5B6B82"/>
                </a:solidFill>
                <a:latin typeface="Golos Text"/>
              </a:rPr>
              <a:t>, </a:t>
            </a:r>
            <a:r>
              <a:rPr sz="1250" b="0" i="0" dirty="0" err="1">
                <a:solidFill>
                  <a:srgbClr val="5B6B82"/>
                </a:solidFill>
                <a:latin typeface="Golos Text"/>
              </a:rPr>
              <a:t>по</a:t>
            </a:r>
            <a:r>
              <a:rPr sz="1250" b="0" i="0" dirty="0">
                <a:solidFill>
                  <a:srgbClr val="5B6B82"/>
                </a:solidFill>
                <a:latin typeface="Golos Text"/>
              </a:rPr>
              <a:t> </a:t>
            </a:r>
            <a:r>
              <a:rPr sz="1250" b="0" i="0" dirty="0" err="1">
                <a:solidFill>
                  <a:srgbClr val="5B6B82"/>
                </a:solidFill>
                <a:latin typeface="Golos Text"/>
              </a:rPr>
              <a:t>неделям</a:t>
            </a:r>
            <a:endParaRPr sz="1250" b="0" i="0" dirty="0">
              <a:solidFill>
                <a:srgbClr val="5B6B82"/>
              </a:solidFill>
              <a:latin typeface="Golos Tex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64207"/>
            <a:ext cx="2057400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2882"/>
                </a:solidFill>
                <a:latin typeface="Golos Text"/>
              </a:rPr>
              <a:t>1 219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21991"/>
            <a:ext cx="2057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5B6B82"/>
                </a:solidFill>
                <a:latin typeface="Golos Text"/>
              </a:rPr>
              <a:t>обращений всего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554480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1664207"/>
            <a:ext cx="2057400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2882"/>
                </a:solidFill>
                <a:latin typeface="Golos Text"/>
              </a:rPr>
              <a:t>119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21991"/>
            <a:ext cx="2057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5B6B82"/>
                </a:solidFill>
                <a:latin typeface="Golos Text"/>
              </a:rPr>
              <a:t>макс. в неделю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54480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23560" y="1664207"/>
            <a:ext cx="2057400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2882"/>
                </a:solidFill>
                <a:latin typeface="Golos Text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221991"/>
            <a:ext cx="2057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5B6B82"/>
                </a:solidFill>
                <a:latin typeface="Golos Text"/>
              </a:rPr>
              <a:t>объектов с обращениями</a:t>
            </a:r>
          </a:p>
        </p:txBody>
      </p:sp>
      <p:pic>
        <p:nvPicPr>
          <p:cNvPr id="14" name="Picture 13" descr="b2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087" y="2962655"/>
            <a:ext cx="8798794" cy="2423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77087" y="2779774"/>
            <a:ext cx="879879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5B6B82"/>
                </a:solidFill>
                <a:latin typeface="Golos Text"/>
              </a:rPr>
              <a:t>Обращений в неделю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4734" y="5561628"/>
            <a:ext cx="118872" cy="118872"/>
          </a:xfrm>
          <a:prstGeom prst="rect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66758" y="5538767"/>
            <a:ext cx="2338303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 dirty="0" err="1">
                <a:solidFill>
                  <a:srgbClr val="1A2233"/>
                </a:solidFill>
                <a:latin typeface="Golos Text"/>
              </a:rPr>
              <a:t>Башня</a:t>
            </a:r>
            <a:r>
              <a:rPr sz="760" b="0" i="0" dirty="0">
                <a:solidFill>
                  <a:srgbClr val="1A2233"/>
                </a:solidFill>
                <a:latin typeface="Golos Text"/>
              </a:rPr>
              <a:t> "</a:t>
            </a:r>
            <a:r>
              <a:rPr sz="760" b="0" i="0" dirty="0" err="1">
                <a:solidFill>
                  <a:srgbClr val="1A2233"/>
                </a:solidFill>
                <a:latin typeface="Golos Text"/>
              </a:rPr>
              <a:t>Запад</a:t>
            </a:r>
            <a:r>
              <a:rPr sz="760" b="0" i="0" dirty="0">
                <a:solidFill>
                  <a:srgbClr val="1A2233"/>
                </a:solidFill>
                <a:latin typeface="Golos Text"/>
              </a:rPr>
              <a:t>" </a:t>
            </a:r>
            <a:r>
              <a:rPr sz="760" b="0" i="0" dirty="0" err="1">
                <a:solidFill>
                  <a:srgbClr val="1A2233"/>
                </a:solidFill>
                <a:latin typeface="Golos Text"/>
              </a:rPr>
              <a:t>комплекс</a:t>
            </a:r>
            <a:r>
              <a:rPr sz="760" b="0" i="0" dirty="0">
                <a:solidFill>
                  <a:srgbClr val="1A2233"/>
                </a:solidFill>
                <a:latin typeface="Golos Text"/>
              </a:rPr>
              <a:t> "</a:t>
            </a:r>
            <a:r>
              <a:rPr sz="760" b="0" i="0" dirty="0" err="1">
                <a:solidFill>
                  <a:srgbClr val="1A2233"/>
                </a:solidFill>
                <a:latin typeface="Golos Text"/>
              </a:rPr>
              <a:t>Федерация</a:t>
            </a:r>
            <a:r>
              <a:rPr sz="760" b="0" i="0" dirty="0">
                <a:solidFill>
                  <a:srgbClr val="1A2233"/>
                </a:solidFill>
                <a:latin typeface="Golos Text"/>
              </a:rPr>
              <a:t>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57733" y="5559133"/>
            <a:ext cx="118872" cy="118872"/>
          </a:xfrm>
          <a:prstGeom prst="rect">
            <a:avLst/>
          </a:prstGeom>
          <a:solidFill>
            <a:srgbClr val="00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9757" y="5536272"/>
            <a:ext cx="948415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 dirty="0" err="1">
                <a:solidFill>
                  <a:srgbClr val="1A2233"/>
                </a:solidFill>
                <a:latin typeface="Golos Text"/>
              </a:rPr>
              <a:t>Башня</a:t>
            </a:r>
            <a:r>
              <a:rPr sz="760" b="0" i="0" dirty="0">
                <a:solidFill>
                  <a:srgbClr val="1A2233"/>
                </a:solidFill>
                <a:latin typeface="Golos Text"/>
              </a:rPr>
              <a:t> ВТБ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61189" y="5561628"/>
            <a:ext cx="118872" cy="118872"/>
          </a:xfrm>
          <a:prstGeom prst="rect">
            <a:avLst/>
          </a:prstGeom>
          <a:solidFill>
            <a:srgbClr val="23A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53213" y="5538767"/>
            <a:ext cx="239389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2233"/>
                </a:solidFill>
                <a:latin typeface="Golos Text"/>
              </a:rPr>
              <a:t>Башня "Восток" комплекс "Федерация"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103" y="5746788"/>
            <a:ext cx="118872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67127" y="5723927"/>
            <a:ext cx="1004011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2233"/>
                </a:solidFill>
                <a:latin typeface="Golos Text"/>
              </a:rPr>
              <a:t>ГО Трубная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5353" y="5561628"/>
            <a:ext cx="118872" cy="118872"/>
          </a:xfrm>
          <a:prstGeom prst="rect">
            <a:avLst/>
          </a:prstGeom>
          <a:solidFill>
            <a:srgbClr val="E6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7377" y="5538767"/>
            <a:ext cx="244949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2233"/>
                </a:solidFill>
                <a:latin typeface="Golos Text"/>
              </a:rPr>
              <a:t>Днепропетровский пр-д, 4, корпус А,Б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8509" y="5571707"/>
            <a:ext cx="118872" cy="118872"/>
          </a:xfrm>
          <a:prstGeom prst="rect">
            <a:avLst/>
          </a:prstGeom>
          <a:solidFill>
            <a:srgbClr val="6A4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97041" y="5537417"/>
            <a:ext cx="2115921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 dirty="0" err="1">
                <a:solidFill>
                  <a:srgbClr val="1A2233"/>
                </a:solidFill>
                <a:latin typeface="Golos Text"/>
              </a:rPr>
              <a:t>ул</a:t>
            </a:r>
            <a:r>
              <a:rPr sz="760" b="0" i="0" dirty="0">
                <a:solidFill>
                  <a:srgbClr val="1A2233"/>
                </a:solidFill>
                <a:latin typeface="Golos Text"/>
              </a:rPr>
              <a:t>. </a:t>
            </a:r>
            <a:r>
              <a:rPr sz="760" b="0" i="0" dirty="0" err="1">
                <a:solidFill>
                  <a:srgbClr val="1A2233"/>
                </a:solidFill>
                <a:latin typeface="Golos Text"/>
              </a:rPr>
              <a:t>Воронцовская</a:t>
            </a:r>
            <a:r>
              <a:rPr sz="760" b="0" i="0" dirty="0">
                <a:solidFill>
                  <a:srgbClr val="1A2233"/>
                </a:solidFill>
                <a:latin typeface="Golos Text"/>
              </a:rPr>
              <a:t>, д.43, </a:t>
            </a:r>
            <a:r>
              <a:rPr sz="760" b="0" i="0" dirty="0" err="1">
                <a:solidFill>
                  <a:srgbClr val="1A2233"/>
                </a:solidFill>
                <a:latin typeface="Golos Text"/>
              </a:rPr>
              <a:t>корп.Б</a:t>
            </a:r>
            <a:endParaRPr sz="760" b="0" i="0" dirty="0">
              <a:solidFill>
                <a:srgbClr val="1A2233"/>
              </a:solidFill>
              <a:latin typeface="Golos Tex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74734" y="5767368"/>
            <a:ext cx="118872" cy="118872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66758" y="5744508"/>
            <a:ext cx="1170797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 dirty="0" err="1">
                <a:solidFill>
                  <a:srgbClr val="1A2233"/>
                </a:solidFill>
                <a:latin typeface="Golos Text"/>
              </a:rPr>
              <a:t>Магистральная</a:t>
            </a:r>
            <a:endParaRPr sz="760" b="0" i="0" dirty="0">
              <a:solidFill>
                <a:srgbClr val="1A2233"/>
              </a:solidFill>
              <a:latin typeface="Golos Tex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63221" y="5739314"/>
            <a:ext cx="118872" cy="118872"/>
          </a:xfrm>
          <a:prstGeom prst="rect">
            <a:avLst/>
          </a:prstGeom>
          <a:solidFill>
            <a:srgbClr val="C99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55245" y="5716454"/>
            <a:ext cx="1949135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2233"/>
                </a:solidFill>
                <a:latin typeface="Golos Text"/>
              </a:rPr>
              <a:t>3-я Рыбинская, д.18, стр.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65584" y="5732246"/>
            <a:ext cx="118872" cy="118872"/>
          </a:xfrm>
          <a:prstGeom prst="rect">
            <a:avLst/>
          </a:prstGeom>
          <a:solidFill>
            <a:srgbClr val="5B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57608" y="5709386"/>
            <a:ext cx="206032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2233"/>
                </a:solidFill>
                <a:latin typeface="Golos Text"/>
              </a:rPr>
              <a:t>ул. Воронцовская, д.43 корп.А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5353" y="5739314"/>
            <a:ext cx="118872" cy="118872"/>
          </a:xfrm>
          <a:prstGeom prst="rect">
            <a:avLst/>
          </a:prstGeom>
          <a:solidFill>
            <a:srgbClr val="B055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47377" y="5716454"/>
            <a:ext cx="272747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 dirty="0">
                <a:solidFill>
                  <a:srgbClr val="1A2233"/>
                </a:solidFill>
                <a:latin typeface="Golos Text"/>
              </a:rPr>
              <a:t>г. </a:t>
            </a:r>
            <a:r>
              <a:rPr sz="760" b="0" i="0" dirty="0" err="1">
                <a:solidFill>
                  <a:srgbClr val="1A2233"/>
                </a:solidFill>
                <a:latin typeface="Golos Text"/>
              </a:rPr>
              <a:t>Москва</a:t>
            </a:r>
            <a:r>
              <a:rPr sz="760" b="0" i="0" dirty="0">
                <a:solidFill>
                  <a:srgbClr val="1A2233"/>
                </a:solidFill>
                <a:latin typeface="Golos Text"/>
              </a:rPr>
              <a:t>, </a:t>
            </a:r>
            <a:r>
              <a:rPr sz="760" b="0" i="0" dirty="0" err="1">
                <a:solidFill>
                  <a:srgbClr val="1A2233"/>
                </a:solidFill>
                <a:latin typeface="Golos Text"/>
              </a:rPr>
              <a:t>Перовское</a:t>
            </a:r>
            <a:r>
              <a:rPr sz="760" b="0" i="0" dirty="0">
                <a:solidFill>
                  <a:srgbClr val="1A2233"/>
                </a:solidFill>
                <a:latin typeface="Golos Text"/>
              </a:rPr>
              <a:t> ш., д.1, </a:t>
            </a:r>
            <a:r>
              <a:rPr sz="760" b="0" i="0" dirty="0" err="1">
                <a:solidFill>
                  <a:srgbClr val="1A2233"/>
                </a:solidFill>
                <a:latin typeface="Golos Text"/>
              </a:rPr>
              <a:t>стр</a:t>
            </a:r>
            <a:r>
              <a:rPr sz="760" b="0" i="0" dirty="0">
                <a:solidFill>
                  <a:srgbClr val="1A2233"/>
                </a:solidFill>
                <a:latin typeface="Golos Text"/>
              </a:rPr>
              <a:t>. 1,2,3.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48509" y="5739313"/>
            <a:ext cx="118872" cy="118872"/>
          </a:xfrm>
          <a:prstGeom prst="rect">
            <a:avLst/>
          </a:prstGeom>
          <a:solidFill>
            <a:srgbClr val="3F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0533" y="5716453"/>
            <a:ext cx="105960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A2233"/>
                </a:solidFill>
                <a:latin typeface="Golos Text"/>
              </a:rPr>
              <a:t>ЗОТОВ ЦЕНТР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19963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1" dirty="0" err="1">
                <a:solidFill>
                  <a:srgbClr val="5B6B82"/>
                </a:solidFill>
                <a:latin typeface="Golos Text"/>
              </a:rPr>
              <a:t>Резкий</a:t>
            </a:r>
            <a:r>
              <a:rPr sz="86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60" b="0" i="1" dirty="0" err="1">
                <a:solidFill>
                  <a:srgbClr val="5B6B82"/>
                </a:solidFill>
                <a:latin typeface="Golos Text"/>
              </a:rPr>
              <a:t>рост</a:t>
            </a:r>
            <a:r>
              <a:rPr sz="86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60" b="0" i="1" dirty="0" err="1">
                <a:solidFill>
                  <a:srgbClr val="5B6B82"/>
                </a:solidFill>
                <a:latin typeface="Golos Text"/>
              </a:rPr>
              <a:t>числа</a:t>
            </a:r>
            <a:r>
              <a:rPr sz="86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60" b="0" i="1" dirty="0" err="1">
                <a:solidFill>
                  <a:srgbClr val="5B6B82"/>
                </a:solidFill>
                <a:latin typeface="Golos Text"/>
              </a:rPr>
              <a:t>обращений</a:t>
            </a:r>
            <a:r>
              <a:rPr sz="86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60" b="0" i="1" dirty="0" err="1">
                <a:solidFill>
                  <a:srgbClr val="5B6B82"/>
                </a:solidFill>
                <a:latin typeface="Golos Text"/>
              </a:rPr>
              <a:t>сигнализирует</a:t>
            </a:r>
            <a:r>
              <a:rPr sz="860" b="0" i="1" dirty="0">
                <a:solidFill>
                  <a:srgbClr val="5B6B82"/>
                </a:solidFill>
                <a:latin typeface="Golos Text"/>
              </a:rPr>
              <a:t> о </a:t>
            </a:r>
            <a:r>
              <a:rPr sz="860" b="0" i="1" dirty="0" err="1">
                <a:solidFill>
                  <a:srgbClr val="5B6B82"/>
                </a:solidFill>
                <a:latin typeface="Golos Text"/>
              </a:rPr>
              <a:t>завершении</a:t>
            </a:r>
            <a:r>
              <a:rPr sz="86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60" b="0" i="1" dirty="0" err="1">
                <a:solidFill>
                  <a:srgbClr val="5B6B82"/>
                </a:solidFill>
                <a:latin typeface="Golos Text"/>
              </a:rPr>
              <a:t>оклейки</a:t>
            </a:r>
            <a:r>
              <a:rPr sz="860" b="0" i="1" dirty="0">
                <a:solidFill>
                  <a:srgbClr val="5B6B82"/>
                </a:solidFill>
                <a:latin typeface="Golos Text"/>
              </a:rPr>
              <a:t> QR в </a:t>
            </a:r>
            <a:r>
              <a:rPr sz="860" b="0" i="1" dirty="0" err="1">
                <a:solidFill>
                  <a:srgbClr val="5B6B82"/>
                </a:solidFill>
                <a:latin typeface="Golos Text"/>
              </a:rPr>
              <a:t>здании</a:t>
            </a:r>
            <a:r>
              <a:rPr sz="860" b="0" i="1" dirty="0">
                <a:solidFill>
                  <a:srgbClr val="5B6B82"/>
                </a:solidFill>
                <a:latin typeface="Golos Text"/>
              </a:rPr>
              <a:t>, а </a:t>
            </a:r>
            <a:r>
              <a:rPr sz="860" b="0" i="1" dirty="0" err="1">
                <a:solidFill>
                  <a:srgbClr val="5B6B82"/>
                </a:solidFill>
                <a:latin typeface="Golos Text"/>
              </a:rPr>
              <a:t>не</a:t>
            </a:r>
            <a:r>
              <a:rPr sz="86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60" b="0" i="1" dirty="0" err="1">
                <a:solidFill>
                  <a:srgbClr val="5B6B82"/>
                </a:solidFill>
                <a:latin typeface="Golos Text"/>
              </a:rPr>
              <a:t>об</a:t>
            </a:r>
            <a:r>
              <a:rPr sz="86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60" b="0" i="1" dirty="0" err="1">
                <a:solidFill>
                  <a:srgbClr val="5B6B82"/>
                </a:solidFill>
                <a:latin typeface="Golos Text"/>
              </a:rPr>
              <a:t>ухудшении</a:t>
            </a:r>
            <a:r>
              <a:rPr sz="86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60" b="0" i="1" dirty="0" err="1">
                <a:solidFill>
                  <a:srgbClr val="5B6B82"/>
                </a:solidFill>
                <a:latin typeface="Golos Text"/>
              </a:rPr>
              <a:t>качества</a:t>
            </a:r>
            <a:r>
              <a:rPr sz="860" b="0" i="1" dirty="0">
                <a:solidFill>
                  <a:srgbClr val="5B6B82"/>
                </a:solidFill>
                <a:latin typeface="Golos Text"/>
              </a:rPr>
              <a:t> </a:t>
            </a:r>
            <a:r>
              <a:rPr sz="860" b="0" i="1" dirty="0" err="1">
                <a:solidFill>
                  <a:srgbClr val="5B6B82"/>
                </a:solidFill>
                <a:latin typeface="Golos Text"/>
              </a:rPr>
              <a:t>обслуживания</a:t>
            </a:r>
            <a:r>
              <a:rPr sz="860" b="0" i="1" dirty="0">
                <a:solidFill>
                  <a:srgbClr val="5B6B82"/>
                </a:solidFill>
                <a:latin typeface="Golos Text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Bruno · ВТБ · 30.03–26.07.2026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olos Text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20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02882"/>
                </a:solidFill>
                <a:latin typeface="Golos Text"/>
              </a:rPr>
              <a:t>Плановые и внеплановые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4980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B82"/>
                </a:solidFill>
                <a:latin typeface="Golos Text"/>
              </a:rPr>
              <a:t>Объём портфеля задач и эффективность фактического выполнения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80754" y="1536194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7914" y="1645921"/>
            <a:ext cx="2057400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rgbClr val="002882"/>
                </a:solidFill>
                <a:latin typeface="Golos Text"/>
              </a:rPr>
              <a:t>1,06 </a:t>
            </a:r>
            <a:r>
              <a:rPr sz="2600" b="1" i="0" dirty="0" err="1">
                <a:solidFill>
                  <a:srgbClr val="002882"/>
                </a:solidFill>
                <a:latin typeface="Golos Text"/>
              </a:rPr>
              <a:t>млн</a:t>
            </a:r>
            <a:endParaRPr sz="2600" b="1" i="0" dirty="0">
              <a:solidFill>
                <a:srgbClr val="002882"/>
              </a:solidFill>
              <a:latin typeface="Golos Tex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7914" y="2203705"/>
            <a:ext cx="2057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 dirty="0" err="1">
                <a:solidFill>
                  <a:srgbClr val="5B6B82"/>
                </a:solidFill>
                <a:latin typeface="Golos Text"/>
              </a:rPr>
              <a:t>задач</a:t>
            </a:r>
            <a:r>
              <a:rPr sz="1050" b="0" i="0" dirty="0">
                <a:solidFill>
                  <a:srgbClr val="5B6B82"/>
                </a:solidFill>
                <a:latin typeface="Golos Text"/>
              </a:rPr>
              <a:t> </a:t>
            </a:r>
            <a:r>
              <a:rPr lang="ru-RU" sz="1050" b="0" i="0" dirty="0">
                <a:solidFill>
                  <a:srgbClr val="5B6B82"/>
                </a:solidFill>
                <a:latin typeface="Golos Text"/>
              </a:rPr>
              <a:t>всего</a:t>
            </a:r>
            <a:endParaRPr sz="1050" b="0" i="0" dirty="0">
              <a:solidFill>
                <a:srgbClr val="5B6B82"/>
              </a:solidFill>
              <a:latin typeface="Golos Tex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95354" y="1536194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32514" y="1645921"/>
            <a:ext cx="2057400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62632"/>
                </a:solidFill>
                <a:latin typeface="Golos Text"/>
              </a:rPr>
              <a:t>4,1%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2514" y="2203705"/>
            <a:ext cx="2057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5B6B82"/>
                </a:solidFill>
                <a:latin typeface="Golos Text"/>
              </a:rPr>
              <a:t>эффективность за период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9954" y="1536194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7114" y="1645921"/>
            <a:ext cx="2057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600" b="1" dirty="0">
                <a:solidFill>
                  <a:srgbClr val="002882"/>
                </a:solidFill>
                <a:latin typeface="Golos Text"/>
              </a:rPr>
              <a:t>4</a:t>
            </a:r>
            <a:r>
              <a:rPr lang="en-US" sz="2600" b="1" dirty="0">
                <a:solidFill>
                  <a:srgbClr val="002882"/>
                </a:solidFill>
                <a:latin typeface="Golos Text"/>
              </a:rPr>
              <a:t>3 833</a:t>
            </a:r>
            <a:endParaRPr sz="2600" b="1" dirty="0">
              <a:solidFill>
                <a:srgbClr val="002882"/>
              </a:solidFill>
              <a:latin typeface="Golos Tex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47114" y="2203705"/>
            <a:ext cx="2057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lang="ru-RU" sz="1050" b="0" i="0" dirty="0">
                <a:solidFill>
                  <a:srgbClr val="5B6B82"/>
                </a:solidFill>
                <a:latin typeface="Golos Text"/>
              </a:rPr>
              <a:t>выполненных задач</a:t>
            </a:r>
            <a:endParaRPr sz="1050" b="0" i="0" dirty="0">
              <a:solidFill>
                <a:srgbClr val="5B6B82"/>
              </a:solidFill>
              <a:latin typeface="Golos Text"/>
            </a:endParaRPr>
          </a:p>
        </p:txBody>
      </p:sp>
      <p:pic>
        <p:nvPicPr>
          <p:cNvPr id="14" name="Picture 13" descr="b3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708" y="3044952"/>
            <a:ext cx="8175615" cy="2148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33708" y="2862071"/>
            <a:ext cx="4087807" cy="133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5B6B82"/>
                </a:solidFill>
                <a:latin typeface="Golos Text"/>
              </a:rPr>
              <a:t>Задач в неделю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1516" y="2862071"/>
            <a:ext cx="4087807" cy="133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9" b="0" i="0">
                <a:solidFill>
                  <a:srgbClr val="002882"/>
                </a:solidFill>
                <a:latin typeface="Golos Text"/>
              </a:rPr>
              <a:t>Эффективность,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5513" y="5335524"/>
            <a:ext cx="118872" cy="118872"/>
          </a:xfrm>
          <a:prstGeom prst="rect">
            <a:avLst/>
          </a:prstGeom>
          <a:solidFill>
            <a:srgbClr val="23A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7537" y="5328082"/>
            <a:ext cx="1020836" cy="1337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 dirty="0" err="1">
                <a:solidFill>
                  <a:srgbClr val="1A2233"/>
                </a:solidFill>
                <a:latin typeface="Golos Text"/>
              </a:rPr>
              <a:t>Выполнено</a:t>
            </a:r>
            <a:endParaRPr sz="869" b="0" i="0" dirty="0">
              <a:solidFill>
                <a:srgbClr val="1A2233"/>
              </a:solidFill>
              <a:latin typeface="Golos Tex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26349" y="5335524"/>
            <a:ext cx="118872" cy="118872"/>
          </a:xfrm>
          <a:prstGeom prst="rect">
            <a:avLst/>
          </a:prstGeom>
          <a:solidFill>
            <a:srgbClr val="E6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18373" y="5328082"/>
            <a:ext cx="1020836" cy="1337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2233"/>
                </a:solidFill>
                <a:latin typeface="Golos Text"/>
              </a:rPr>
              <a:t>Пропущено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47185" y="5335524"/>
            <a:ext cx="118872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39209" y="5328082"/>
            <a:ext cx="957193" cy="1337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2233"/>
                </a:solidFill>
                <a:latin typeface="Golos Text"/>
              </a:rPr>
              <a:t>В работе</a:t>
            </a:r>
          </a:p>
        </p:txBody>
      </p:sp>
      <p:cxnSp>
        <p:nvCxnSpPr>
          <p:cNvPr id="23" name="Connector 22"/>
          <p:cNvCxnSpPr>
            <a:cxnSpLocks/>
          </p:cNvCxnSpPr>
          <p:nvPr/>
        </p:nvCxnSpPr>
        <p:spPr>
          <a:xfrm>
            <a:off x="7747176" y="5385816"/>
            <a:ext cx="146304" cy="0"/>
          </a:xfrm>
          <a:prstGeom prst="line">
            <a:avLst/>
          </a:prstGeom>
          <a:ln w="27940">
            <a:solidFill>
              <a:srgbClr val="002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48344" y="5328082"/>
            <a:ext cx="1962147" cy="1337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2233"/>
                </a:solidFill>
                <a:latin typeface="Golos Text"/>
              </a:rPr>
              <a:t>Эффективность,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72784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1">
                <a:solidFill>
                  <a:srgbClr val="5B6B82"/>
                </a:solidFill>
                <a:latin typeface="Golos Text"/>
              </a:rPr>
              <a:t>Картина сильно различается по объектам (от &lt;1% до ~80%) — см. детализацию в приложении. Эффективность = выполнено / (выполнено + пропущено).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Bruno · ВТБ · 30.03–26.07.2026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>
                <a:solidFill>
                  <a:srgbClr val="FFFFFF"/>
                </a:solidFill>
                <a:latin typeface="Golos Text"/>
              </a:rPr>
              <a:t>5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los Text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8992" y="320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Коменданты: плановые и неплановые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4980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Слева — плановые задачи, отработанные комендантами лично. Справа — неплановые (обращения/заявки)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" y="1669713"/>
            <a:ext cx="55014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Коменданты · плановые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199" y="1989753"/>
            <a:ext cx="2695879" cy="86868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59" y="2099481"/>
            <a:ext cx="2421559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47 828</a:t>
            </a:r>
            <a:r>
              <a:rPr kumimoji="0" lang="ru-RU" sz="2600" b="1" i="0" u="none" strike="noStrike" kern="1200" cap="none" spc="0" normalizeH="0" baseline="0" noProof="0" dirty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/ 8 369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002882"/>
              </a:solidFill>
              <a:effectLst/>
              <a:uLnTx/>
              <a:uFillTx/>
              <a:latin typeface="Golos Text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59" y="2474384"/>
            <a:ext cx="2421559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задач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всего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/ выполнено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5B6B82"/>
              </a:solidFill>
              <a:effectLst/>
              <a:uLnTx/>
              <a:uFillTx/>
              <a:latin typeface="Golos Text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62806" y="1989753"/>
            <a:ext cx="2695879" cy="86868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99966" y="2099481"/>
            <a:ext cx="2421559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17,5%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9966" y="2474384"/>
            <a:ext cx="242155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выполнено</a:t>
            </a:r>
          </a:p>
        </p:txBody>
      </p:sp>
      <p:pic>
        <p:nvPicPr>
          <p:cNvPr id="12" name="Picture 11" descr="b4b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3297401"/>
            <a:ext cx="5501487" cy="14537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199" y="3114521"/>
            <a:ext cx="275074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0" i="0" u="none" strike="noStrike" kern="1200" cap="none" spc="0" normalizeH="0" baseline="0" noProof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Задач/нед.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7942" y="3114521"/>
            <a:ext cx="275074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Эфф.,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6317" y="4892916"/>
            <a:ext cx="118872" cy="118872"/>
          </a:xfrm>
          <a:prstGeom prst="rect">
            <a:avLst/>
          </a:prstGeom>
          <a:solidFill>
            <a:srgbClr val="23A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58341" y="4842624"/>
            <a:ext cx="10208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0" i="0" u="none" strike="noStrike" kern="1200" cap="none" spc="0" normalizeH="0" baseline="0" noProof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Выполнено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87153" y="4892916"/>
            <a:ext cx="118872" cy="118872"/>
          </a:xfrm>
          <a:prstGeom prst="rect">
            <a:avLst/>
          </a:prstGeom>
          <a:solidFill>
            <a:srgbClr val="E6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79177" y="4842624"/>
            <a:ext cx="10208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0" i="0" u="none" strike="noStrike" kern="1200" cap="none" spc="0" normalizeH="0" baseline="0" noProof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Пропущено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7989" y="4892916"/>
            <a:ext cx="118872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00013" y="4842624"/>
            <a:ext cx="95719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0" i="0" u="none" strike="noStrike" kern="1200" cap="none" spc="0" normalizeH="0" baseline="0" noProof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В работе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38329" y="4943208"/>
            <a:ext cx="146304" cy="0"/>
          </a:xfrm>
          <a:prstGeom prst="line">
            <a:avLst/>
          </a:prstGeom>
          <a:ln w="27940">
            <a:solidFill>
              <a:srgbClr val="002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839497" y="4842624"/>
            <a:ext cx="132035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0" i="0" u="none" strike="noStrike" kern="1200" cap="none" spc="0" normalizeH="0" baseline="0" noProof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Эффективность,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3006" y="1669713"/>
            <a:ext cx="55014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Коменданты · неплановые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6" y="1989753"/>
            <a:ext cx="2695879" cy="86868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70166" y="2099481"/>
            <a:ext cx="2421559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314</a:t>
            </a:r>
            <a:r>
              <a:rPr kumimoji="0" lang="ru-RU" sz="2600" b="1" i="0" u="none" strike="noStrike" kern="1200" cap="none" spc="0" normalizeH="0" baseline="0" noProof="0" dirty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/ 241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002882"/>
              </a:solidFill>
              <a:effectLst/>
              <a:uLnTx/>
              <a:uFillTx/>
              <a:latin typeface="Golos Text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70166" y="2474384"/>
            <a:ext cx="2421559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задач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всего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/ выполнено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5B6B82"/>
              </a:solidFill>
              <a:effectLst/>
              <a:uLnTx/>
              <a:uFillTx/>
              <a:latin typeface="Golos Text"/>
              <a:ea typeface="+mn-ea"/>
              <a:cs typeface="+mn-c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038614" y="1989753"/>
            <a:ext cx="2695879" cy="86868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75774" y="2099481"/>
            <a:ext cx="2421559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76,8%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5774" y="2474384"/>
            <a:ext cx="242155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выполнено</a:t>
            </a:r>
          </a:p>
        </p:txBody>
      </p:sp>
      <p:pic>
        <p:nvPicPr>
          <p:cNvPr id="30" name="Picture 29" descr="b4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6" y="3289189"/>
            <a:ext cx="5501487" cy="147020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233006" y="3106309"/>
            <a:ext cx="275074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0" i="0" u="none" strike="noStrike" kern="1200" cap="none" spc="0" normalizeH="0" baseline="0" noProof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Задач/нед.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3750" y="3106309"/>
            <a:ext cx="275074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Эфф.,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5258" y="4901128"/>
            <a:ext cx="118872" cy="118872"/>
          </a:xfrm>
          <a:prstGeom prst="rect">
            <a:avLst/>
          </a:prstGeom>
          <a:solidFill>
            <a:srgbClr val="23A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17282" y="4850836"/>
            <a:ext cx="10208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0" i="0" u="none" strike="noStrike" kern="1200" cap="none" spc="0" normalizeH="0" baseline="0" noProof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Выполнено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46094" y="4901128"/>
            <a:ext cx="118872" cy="118872"/>
          </a:xfrm>
          <a:prstGeom prst="rect">
            <a:avLst/>
          </a:prstGeom>
          <a:solidFill>
            <a:srgbClr val="E6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438118" y="4850836"/>
            <a:ext cx="121176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0" i="0" u="none" strike="noStrike" kern="1200" cap="none" spc="0" normalizeH="0" baseline="0" noProof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Не выполнено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414137" y="4951420"/>
            <a:ext cx="146304" cy="0"/>
          </a:xfrm>
          <a:prstGeom prst="line">
            <a:avLst/>
          </a:prstGeom>
          <a:ln w="27940">
            <a:solidFill>
              <a:srgbClr val="002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615305" y="4850836"/>
            <a:ext cx="132035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0" i="0" u="none" strike="noStrike" kern="1200" cap="none" spc="0" normalizeH="0" baseline="0" noProof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Эффективность,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272784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0" i="1" u="none" strike="noStrike" kern="1200" cap="none" spc="0" normalizeH="0" baseline="0" noProof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Детализация по каждому коменданту — в приложении.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Bruno · ВТБ · 30.03–26.07.2026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Golos Text"/>
                <a:ea typeface="+mn-ea"/>
                <a:cs typeface="+mn-c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800" b="1" dirty="0">
                <a:solidFill>
                  <a:srgbClr val="FFFFFF"/>
                </a:solidFill>
                <a:latin typeface="Golos Text"/>
              </a:rPr>
              <a:t>6</a:t>
            </a:r>
            <a:endParaRPr sz="1800" b="1" dirty="0">
              <a:solidFill>
                <a:srgbClr val="FFFFFF"/>
              </a:solidFill>
              <a:latin typeface="Golos Tex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8992" y="320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02882"/>
                </a:solidFill>
                <a:latin typeface="Golos Text"/>
              </a:rPr>
              <a:t>Уборка: плановые задачи и скорость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4980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 dirty="0" err="1">
                <a:solidFill>
                  <a:srgbClr val="5B6B82"/>
                </a:solidFill>
                <a:latin typeface="Golos Text"/>
              </a:rPr>
              <a:t>Плановые</a:t>
            </a:r>
            <a:r>
              <a:rPr sz="1250" b="0" i="0" dirty="0">
                <a:solidFill>
                  <a:srgbClr val="5B6B82"/>
                </a:solidFill>
                <a:latin typeface="Golos Text"/>
              </a:rPr>
              <a:t> </a:t>
            </a:r>
            <a:r>
              <a:rPr sz="1250" b="0" i="0" dirty="0" err="1">
                <a:solidFill>
                  <a:srgbClr val="5B6B82"/>
                </a:solidFill>
                <a:latin typeface="Golos Text"/>
              </a:rPr>
              <a:t>задачи</a:t>
            </a:r>
            <a:r>
              <a:rPr sz="1250" b="0" i="0" dirty="0">
                <a:solidFill>
                  <a:srgbClr val="5B6B82"/>
                </a:solidFill>
                <a:latin typeface="Golos Text"/>
              </a:rPr>
              <a:t> </a:t>
            </a:r>
            <a:r>
              <a:rPr sz="1250" b="0" i="0" dirty="0" err="1">
                <a:solidFill>
                  <a:srgbClr val="5B6B82"/>
                </a:solidFill>
                <a:latin typeface="Golos Text"/>
              </a:rPr>
              <a:t>по</a:t>
            </a:r>
            <a:r>
              <a:rPr sz="1250" b="0" i="0" dirty="0">
                <a:solidFill>
                  <a:srgbClr val="5B6B82"/>
                </a:solidFill>
                <a:latin typeface="Golos Text"/>
              </a:rPr>
              <a:t> </a:t>
            </a:r>
            <a:r>
              <a:rPr sz="1250" b="0" i="0" dirty="0" err="1">
                <a:solidFill>
                  <a:srgbClr val="5B6B82"/>
                </a:solidFill>
                <a:latin typeface="Golos Text"/>
              </a:rPr>
              <a:t>объектам</a:t>
            </a:r>
            <a:r>
              <a:rPr sz="1250" b="0" i="0" dirty="0">
                <a:solidFill>
                  <a:srgbClr val="5B6B82"/>
                </a:solidFill>
                <a:latin typeface="Golos Text"/>
              </a:rPr>
              <a:t> + </a:t>
            </a:r>
            <a:r>
              <a:rPr sz="1250" b="0" i="0" dirty="0" err="1">
                <a:solidFill>
                  <a:srgbClr val="5B6B82"/>
                </a:solidFill>
                <a:latin typeface="Golos Text"/>
              </a:rPr>
              <a:t>скорость</a:t>
            </a:r>
            <a:r>
              <a:rPr sz="1250" b="0" i="0" dirty="0">
                <a:solidFill>
                  <a:srgbClr val="5B6B82"/>
                </a:solidFill>
                <a:latin typeface="Golos Text"/>
              </a:rPr>
              <a:t> </a:t>
            </a:r>
            <a:r>
              <a:rPr sz="1250" b="0" i="0" dirty="0" err="1">
                <a:solidFill>
                  <a:srgbClr val="5B6B82"/>
                </a:solidFill>
                <a:latin typeface="Golos Text"/>
              </a:rPr>
              <a:t>уборки</a:t>
            </a:r>
            <a:r>
              <a:rPr sz="1250" b="0" i="0" dirty="0">
                <a:solidFill>
                  <a:srgbClr val="5B6B82"/>
                </a:solidFill>
                <a:latin typeface="Golos Text"/>
              </a:rPr>
              <a:t> </a:t>
            </a:r>
            <a:r>
              <a:rPr sz="1250" b="0" i="0" dirty="0" err="1">
                <a:solidFill>
                  <a:srgbClr val="5B6B82"/>
                </a:solidFill>
                <a:latin typeface="Golos Text"/>
              </a:rPr>
              <a:t>по</a:t>
            </a:r>
            <a:r>
              <a:rPr sz="1250" b="0" i="0" dirty="0">
                <a:solidFill>
                  <a:srgbClr val="5B6B82"/>
                </a:solidFill>
                <a:latin typeface="Golos Text"/>
              </a:rPr>
              <a:t> </a:t>
            </a:r>
            <a:r>
              <a:rPr sz="1250" b="0" i="0" dirty="0" err="1">
                <a:solidFill>
                  <a:srgbClr val="5B6B82"/>
                </a:solidFill>
                <a:latin typeface="Golos Text"/>
              </a:rPr>
              <a:t>башням</a:t>
            </a:r>
            <a:r>
              <a:rPr sz="1250" b="0" i="0" dirty="0">
                <a:solidFill>
                  <a:srgbClr val="5B6B82"/>
                </a:solidFill>
                <a:latin typeface="Golos Text"/>
              </a:rPr>
              <a:t> (</a:t>
            </a:r>
            <a:r>
              <a:rPr sz="1250" b="0" i="0" dirty="0" err="1">
                <a:solidFill>
                  <a:srgbClr val="5B6B82"/>
                </a:solidFill>
                <a:latin typeface="Golos Text"/>
              </a:rPr>
              <a:t>день</a:t>
            </a:r>
            <a:r>
              <a:rPr sz="1250" b="0" i="0" dirty="0">
                <a:solidFill>
                  <a:srgbClr val="5B6B82"/>
                </a:solidFill>
                <a:latin typeface="Golos Text"/>
              </a:rPr>
              <a:t>/</a:t>
            </a:r>
            <a:r>
              <a:rPr sz="1250" b="0" i="0" dirty="0" err="1">
                <a:solidFill>
                  <a:srgbClr val="5B6B82"/>
                </a:solidFill>
                <a:latin typeface="Golos Text"/>
              </a:rPr>
              <a:t>вечер</a:t>
            </a:r>
            <a:r>
              <a:rPr sz="1250" b="0" i="0" dirty="0">
                <a:solidFill>
                  <a:srgbClr val="5B6B82"/>
                </a:solidFill>
                <a:latin typeface="Golos Text"/>
              </a:rPr>
              <a:t>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15780"/>
            <a:ext cx="2381702" cy="9144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725508"/>
            <a:ext cx="2514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2600" b="1" i="0" dirty="0">
                <a:solidFill>
                  <a:srgbClr val="002882"/>
                </a:solidFill>
                <a:latin typeface="Golos Text"/>
              </a:rPr>
              <a:t>835 111/</a:t>
            </a:r>
            <a:r>
              <a:rPr lang="en-US" sz="2600" b="1" dirty="0">
                <a:solidFill>
                  <a:srgbClr val="002882"/>
                </a:solidFill>
                <a:latin typeface="Golos Text"/>
              </a:rPr>
              <a:t>30 064</a:t>
            </a:r>
            <a:endParaRPr sz="2600" b="1" i="0" dirty="0">
              <a:solidFill>
                <a:srgbClr val="002882"/>
              </a:solidFill>
              <a:latin typeface="Golos Tex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9165" y="2146132"/>
            <a:ext cx="192024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1050" b="0" i="0" dirty="0" err="1">
                <a:solidFill>
                  <a:srgbClr val="5B6B82"/>
                </a:solidFill>
                <a:latin typeface="Golos Text"/>
              </a:rPr>
              <a:t>задач</a:t>
            </a:r>
            <a:r>
              <a:rPr sz="1050" b="0" i="0" dirty="0">
                <a:solidFill>
                  <a:srgbClr val="5B6B82"/>
                </a:solidFill>
                <a:latin typeface="Golos Text"/>
              </a:rPr>
              <a:t> </a:t>
            </a:r>
            <a:r>
              <a:rPr lang="ru-RU" sz="1050" b="0" i="0" dirty="0">
                <a:solidFill>
                  <a:srgbClr val="5B6B82"/>
                </a:solidFill>
                <a:latin typeface="Golos Text"/>
              </a:rPr>
              <a:t>всего</a:t>
            </a:r>
            <a:r>
              <a:rPr lang="ru-RU" sz="1050" dirty="0">
                <a:solidFill>
                  <a:srgbClr val="5B6B82"/>
                </a:solidFill>
                <a:latin typeface="Golos Text"/>
              </a:rPr>
              <a:t>/ выполнено</a:t>
            </a:r>
            <a:endParaRPr sz="1050" b="0" i="0" dirty="0">
              <a:solidFill>
                <a:srgbClr val="5B6B82"/>
              </a:solidFill>
              <a:latin typeface="Golos Tex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971599" y="160622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758" y="1715948"/>
            <a:ext cx="1920240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rgbClr val="E62632"/>
                </a:solidFill>
                <a:latin typeface="Golos Text"/>
              </a:rPr>
              <a:t>3,6%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758" y="2136572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 dirty="0" err="1">
                <a:solidFill>
                  <a:srgbClr val="5B6B82"/>
                </a:solidFill>
                <a:latin typeface="Golos Text"/>
              </a:rPr>
              <a:t>эффективность</a:t>
            </a:r>
            <a:endParaRPr sz="1050" b="0" i="0" dirty="0">
              <a:solidFill>
                <a:srgbClr val="5B6B82"/>
              </a:solidFill>
              <a:latin typeface="Golos Tex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303319" y="160622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0479" y="1715948"/>
            <a:ext cx="1920240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2882"/>
                </a:solidFill>
                <a:latin typeface="Golos Text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479" y="2136572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5B6B82"/>
                </a:solidFill>
                <a:latin typeface="Golos Text"/>
              </a:rPr>
              <a:t>объектов на уборке</a:t>
            </a:r>
          </a:p>
        </p:txBody>
      </p:sp>
      <p:pic>
        <p:nvPicPr>
          <p:cNvPr id="14" name="Picture 13" descr="b5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19" y="2818360"/>
            <a:ext cx="7131920" cy="18745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3119" y="2635480"/>
            <a:ext cx="3565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5B6B82"/>
                </a:solidFill>
                <a:latin typeface="Golos Text"/>
              </a:rPr>
              <a:t>Задач/нед.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635480"/>
            <a:ext cx="3565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9" b="0" i="0">
                <a:solidFill>
                  <a:srgbClr val="002882"/>
                </a:solidFill>
                <a:latin typeface="Golos Text"/>
              </a:rPr>
              <a:t>Эфф.,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9194" y="4834611"/>
            <a:ext cx="118872" cy="118872"/>
          </a:xfrm>
          <a:prstGeom prst="rect">
            <a:avLst/>
          </a:prstGeom>
          <a:solidFill>
            <a:srgbClr val="23A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91218" y="4784319"/>
            <a:ext cx="10208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2233"/>
                </a:solidFill>
                <a:latin typeface="Golos Text"/>
              </a:rPr>
              <a:t>Выполнено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20030" y="4834611"/>
            <a:ext cx="118872" cy="118872"/>
          </a:xfrm>
          <a:prstGeom prst="rect">
            <a:avLst/>
          </a:prstGeom>
          <a:solidFill>
            <a:srgbClr val="E6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12054" y="4784319"/>
            <a:ext cx="10208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2233"/>
                </a:solidFill>
                <a:latin typeface="Golos Text"/>
              </a:rPr>
              <a:t>Пропущено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0866" y="4834611"/>
            <a:ext cx="118872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32890" y="4784319"/>
            <a:ext cx="95719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2233"/>
                </a:solidFill>
                <a:latin typeface="Golos Text"/>
              </a:rPr>
              <a:t>В работе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23379" y="4884904"/>
            <a:ext cx="146304" cy="0"/>
          </a:xfrm>
          <a:prstGeom prst="line">
            <a:avLst/>
          </a:prstGeom>
          <a:ln w="27940">
            <a:solidFill>
              <a:srgbClr val="002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4547" y="4784319"/>
            <a:ext cx="17116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A2233"/>
                </a:solidFill>
                <a:latin typeface="Golos Text"/>
              </a:rPr>
              <a:t>Эффективность,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8275" y="2520620"/>
            <a:ext cx="382493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sz="1400" b="1" i="0" dirty="0">
                <a:solidFill>
                  <a:srgbClr val="002882"/>
                </a:solidFill>
                <a:latin typeface="Golos Text"/>
              </a:rPr>
              <a:t>Основные показатели уборки по </a:t>
            </a:r>
            <a:r>
              <a:rPr sz="1400" b="1" i="0" dirty="0">
                <a:solidFill>
                  <a:srgbClr val="002882"/>
                </a:solidFill>
                <a:latin typeface="Golos Text"/>
              </a:rPr>
              <a:t>3</a:t>
            </a:r>
            <a:r>
              <a:rPr lang="ru-RU" sz="1400" b="1" dirty="0">
                <a:solidFill>
                  <a:srgbClr val="002882"/>
                </a:solidFill>
                <a:latin typeface="Golos Text"/>
              </a:rPr>
              <a:t>-ем</a:t>
            </a:r>
            <a:r>
              <a:rPr sz="1400" b="1" i="0" dirty="0">
                <a:solidFill>
                  <a:srgbClr val="002882"/>
                </a:solidFill>
                <a:latin typeface="Golos Text"/>
              </a:rPr>
              <a:t> </a:t>
            </a:r>
            <a:r>
              <a:rPr sz="1400" b="1" i="0" dirty="0" err="1">
                <a:solidFill>
                  <a:srgbClr val="002882"/>
                </a:solidFill>
                <a:latin typeface="Golos Text"/>
              </a:rPr>
              <a:t>баш</a:t>
            </a:r>
            <a:r>
              <a:rPr lang="ru-RU" sz="1400" b="1" i="0" dirty="0" err="1">
                <a:solidFill>
                  <a:srgbClr val="002882"/>
                </a:solidFill>
                <a:latin typeface="Golos Text"/>
              </a:rPr>
              <a:t>ням</a:t>
            </a:r>
            <a:endParaRPr sz="1400" b="1" i="0" dirty="0">
              <a:solidFill>
                <a:srgbClr val="002882"/>
              </a:solidFill>
              <a:latin typeface="Golos Text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055034" y="2897747"/>
          <a:ext cx="3494460" cy="1558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3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545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FFFFF"/>
                          </a:solidFill>
                          <a:latin typeface="Golos Text"/>
                        </a:rPr>
                        <a:t>Смена</a:t>
                      </a:r>
                      <a:endParaRPr sz="1200" b="1" dirty="0">
                        <a:solidFill>
                          <a:srgbClr val="FFFFFF"/>
                        </a:solidFill>
                        <a:latin typeface="Golos Text"/>
                      </a:endParaRP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Golos Text"/>
                        </a:rPr>
                        <a:t>Задач/чел.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Golos Text"/>
                        </a:rPr>
                        <a:t>Мин./задачу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54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233"/>
                          </a:solidFill>
                          <a:latin typeface="Golos Text"/>
                        </a:rPr>
                        <a:t>День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233"/>
                          </a:solidFill>
                          <a:latin typeface="Golos Text"/>
                        </a:rPr>
                        <a:t>33.68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233"/>
                          </a:solidFill>
                          <a:latin typeface="Golos Text"/>
                        </a:rPr>
                        <a:t>2.01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54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233"/>
                          </a:solidFill>
                          <a:latin typeface="Golos Text"/>
                        </a:rPr>
                        <a:t>Вечер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233"/>
                          </a:solidFill>
                          <a:latin typeface="Golos Text"/>
                        </a:rPr>
                        <a:t>14.02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2233"/>
                          </a:solidFill>
                          <a:latin typeface="Golos Text"/>
                        </a:rPr>
                        <a:t>7.28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457200" y="6272784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B82"/>
                </a:solidFill>
                <a:latin typeface="Golos Text"/>
              </a:rPr>
              <a:t>Среднее по «трём башням» считается только по башням, где есть завершённые плановые задачи за период; башни без данных не приравниваются к нулю. Детализация по объектам — в приложении.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Bruno · ВТБ · 30.03–26.07.2026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olos Text"/>
              </a:rPr>
              <a:t>Итоги периода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EDD"/>
                </a:solidFill>
                <a:latin typeface="Golos Text"/>
              </a:rPr>
              <a:t>30.03.2026 — 26.07.2026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001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299923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00AAFF"/>
                </a:solidFill>
                <a:latin typeface="Golos Text"/>
              </a:rPr>
              <a:t>7 </a:t>
            </a:r>
            <a:r>
              <a:rPr sz="3000" b="1" i="0" dirty="0" err="1">
                <a:solidFill>
                  <a:srgbClr val="00AAFF"/>
                </a:solidFill>
                <a:latin typeface="Golos Text"/>
              </a:rPr>
              <a:t>из</a:t>
            </a:r>
            <a:r>
              <a:rPr sz="3000" b="1" i="0" dirty="0">
                <a:solidFill>
                  <a:srgbClr val="00AAFF"/>
                </a:solidFill>
                <a:latin typeface="Golos Text"/>
              </a:rPr>
              <a:t> 1</a:t>
            </a:r>
            <a:r>
              <a:rPr lang="ru-RU" sz="3000" b="1" dirty="0">
                <a:solidFill>
                  <a:srgbClr val="00AAFF"/>
                </a:solidFill>
                <a:latin typeface="Golos Text"/>
              </a:rPr>
              <a:t>4</a:t>
            </a:r>
            <a:endParaRPr sz="3000" b="1" i="0" dirty="0">
              <a:solidFill>
                <a:srgbClr val="00AAFF"/>
              </a:solidFill>
              <a:latin typeface="Golos Tex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29992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Golos Text"/>
              </a:rPr>
              <a:t>зданий полностью оклеены QR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182880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001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61688" y="214884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AAFF"/>
                </a:solidFill>
                <a:latin typeface="Golos Text"/>
              </a:rPr>
              <a:t>1 219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3017520"/>
            <a:ext cx="29992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Golos Text"/>
              </a:rPr>
              <a:t>обращений принято через QR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08975" y="182880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001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37575" y="214884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AAFF"/>
                </a:solidFill>
                <a:latin typeface="Golos Text"/>
              </a:rPr>
              <a:t>1,06 млн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5" y="3017520"/>
            <a:ext cx="2999232" cy="184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 dirty="0" err="1">
                <a:solidFill>
                  <a:srgbClr val="FFFFFF"/>
                </a:solidFill>
                <a:latin typeface="Golos Text"/>
              </a:rPr>
              <a:t>задач</a:t>
            </a:r>
            <a:r>
              <a:rPr sz="1150" b="0" i="0" dirty="0">
                <a:solidFill>
                  <a:srgbClr val="FFFFFF"/>
                </a:solidFill>
                <a:latin typeface="Golos Text"/>
              </a:rPr>
              <a:t> </a:t>
            </a:r>
            <a:r>
              <a:rPr lang="ru-RU" sz="1150" b="0" i="0" dirty="0">
                <a:solidFill>
                  <a:srgbClr val="FFFFFF"/>
                </a:solidFill>
                <a:latin typeface="Golos Text"/>
              </a:rPr>
              <a:t>заведено</a:t>
            </a:r>
            <a:r>
              <a:rPr sz="1150" b="0" i="0" dirty="0">
                <a:solidFill>
                  <a:srgbClr val="FFFFFF"/>
                </a:solidFill>
                <a:latin typeface="Golos Text"/>
              </a:rPr>
              <a:t> в Bruno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14215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001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334255"/>
            <a:ext cx="299923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00AAFF"/>
                </a:solidFill>
                <a:latin typeface="Golos Text"/>
              </a:rPr>
              <a:t>4</a:t>
            </a:r>
            <a:r>
              <a:rPr lang="ru-RU" sz="3000" b="1" i="0" dirty="0">
                <a:solidFill>
                  <a:srgbClr val="00AAFF"/>
                </a:solidFill>
                <a:latin typeface="Golos Text"/>
              </a:rPr>
              <a:t>,1%/ 69,3% </a:t>
            </a:r>
            <a:endParaRPr sz="3000" b="1" i="0" dirty="0">
              <a:solidFill>
                <a:srgbClr val="00AAFF"/>
              </a:solidFill>
              <a:latin typeface="Golos Tex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5202936"/>
            <a:ext cx="2999232" cy="379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 dirty="0" err="1">
                <a:solidFill>
                  <a:srgbClr val="FFFFFF"/>
                </a:solidFill>
                <a:latin typeface="Golos Text"/>
              </a:rPr>
              <a:t>эффективность</a:t>
            </a:r>
            <a:r>
              <a:rPr sz="1150" b="0" i="0" dirty="0">
                <a:solidFill>
                  <a:srgbClr val="FFFFFF"/>
                </a:solidFill>
                <a:latin typeface="Golos Text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Golos Text"/>
              </a:rPr>
              <a:t>по</a:t>
            </a:r>
            <a:r>
              <a:rPr sz="1150" b="0" i="0" dirty="0">
                <a:solidFill>
                  <a:srgbClr val="FFFFFF"/>
                </a:solidFill>
                <a:latin typeface="Golos Text"/>
              </a:rPr>
              <a:t> </a:t>
            </a:r>
            <a:r>
              <a:rPr lang="ru-RU" sz="1150" b="0" i="0" dirty="0">
                <a:solidFill>
                  <a:srgbClr val="FFFFFF"/>
                </a:solidFill>
                <a:latin typeface="Golos Text"/>
              </a:rPr>
              <a:t>плановым / неплановым </a:t>
            </a:r>
            <a:r>
              <a:rPr sz="1150" b="0" i="0" dirty="0">
                <a:solidFill>
                  <a:srgbClr val="FFFFFF"/>
                </a:solidFill>
                <a:latin typeface="Golos Text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Golos Text"/>
              </a:rPr>
              <a:t>задачам</a:t>
            </a:r>
            <a:endParaRPr sz="1150" b="0" i="0" dirty="0">
              <a:solidFill>
                <a:srgbClr val="FFFFFF"/>
              </a:solidFill>
              <a:latin typeface="Golos Text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133087" y="4014215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001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61688" y="4334255"/>
            <a:ext cx="299923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sz="3000" b="1" i="0" dirty="0">
                <a:solidFill>
                  <a:srgbClr val="00AAFF"/>
                </a:solidFill>
                <a:latin typeface="Golos Text"/>
              </a:rPr>
              <a:t>17,5%/ </a:t>
            </a:r>
            <a:r>
              <a:rPr sz="3000" b="1" i="0" dirty="0">
                <a:solidFill>
                  <a:srgbClr val="00AAFF"/>
                </a:solidFill>
                <a:latin typeface="Golos Text"/>
              </a:rPr>
              <a:t>76,8%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5202936"/>
            <a:ext cx="2999232" cy="379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ru-RU" sz="1150" b="0" i="0" dirty="0">
                <a:solidFill>
                  <a:srgbClr val="FFFFFF"/>
                </a:solidFill>
                <a:latin typeface="Golos Text"/>
              </a:rPr>
              <a:t>плановых / </a:t>
            </a:r>
            <a:r>
              <a:rPr sz="1150" b="0" i="0" dirty="0" err="1">
                <a:solidFill>
                  <a:srgbClr val="FFFFFF"/>
                </a:solidFill>
                <a:latin typeface="Golos Text"/>
              </a:rPr>
              <a:t>внеплановых</a:t>
            </a:r>
            <a:r>
              <a:rPr sz="1150" b="0" i="0" dirty="0">
                <a:solidFill>
                  <a:srgbClr val="FFFFFF"/>
                </a:solidFill>
                <a:latin typeface="Golos Text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Golos Text"/>
              </a:rPr>
              <a:t>задач</a:t>
            </a:r>
            <a:r>
              <a:rPr sz="1150" b="0" i="0" dirty="0">
                <a:solidFill>
                  <a:srgbClr val="FFFFFF"/>
                </a:solidFill>
                <a:latin typeface="Golos Text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Golos Text"/>
              </a:rPr>
              <a:t>комендантов</a:t>
            </a:r>
            <a:r>
              <a:rPr sz="1150" b="0" i="0" dirty="0">
                <a:solidFill>
                  <a:srgbClr val="FFFFFF"/>
                </a:solidFill>
                <a:latin typeface="Golos Text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Golos Text"/>
              </a:rPr>
              <a:t>выполнено</a:t>
            </a:r>
            <a:endParaRPr sz="1150" b="0" i="0" dirty="0">
              <a:solidFill>
                <a:srgbClr val="FFFFFF"/>
              </a:solidFill>
              <a:latin typeface="Golos Text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808975" y="4014215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001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37575" y="4334255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AAFF"/>
                </a:solidFill>
                <a:latin typeface="Golos Text"/>
              </a:rPr>
              <a:t>3,6%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5" y="5202936"/>
            <a:ext cx="29992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Golos Text"/>
              </a:rPr>
              <a:t>эффективность плановой уборки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A9BEDD"/>
                </a:solidFill>
                <a:latin typeface="Golos Text"/>
              </a:rPr>
              <a:t>Bruno · ВТБ · 30.03–26.07.2026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9BEDD"/>
                </a:solidFill>
                <a:latin typeface="Golos Tex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AAFF"/>
                </a:solidFill>
                <a:latin typeface="Golos Text"/>
              </a:rPr>
              <a:t>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632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Golos Text"/>
              </a:rPr>
              <a:t>Детализация и исходные 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77639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9BEDD"/>
                </a:solidFill>
                <a:latin typeface="Golos Text"/>
              </a:rPr>
              <a:t>Помесячные таблицы и разбивка по объектам/комендантам для каждого блока отчёта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Bruno · ВТБ · 30.03–26.07.2026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AAFF"/>
                </a:solidFill>
                <a:latin typeface="Golos Text"/>
              </a:rPr>
              <a:t>Приложение · Блок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02882"/>
                </a:solidFill>
                <a:latin typeface="Golos Text"/>
              </a:rPr>
              <a:t>Обращения по объектам — помесячная динамика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B82"/>
                </a:solidFill>
                <a:latin typeface="Golos Text"/>
              </a:rPr>
              <a:t>Количество обращений по QR, по месяцам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527554"/>
              </p:ext>
            </p:extLst>
          </p:nvPr>
        </p:nvGraphicFramePr>
        <p:xfrm>
          <a:off x="457200" y="1298448"/>
          <a:ext cx="112772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4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4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84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Golos Text"/>
                        </a:rPr>
                        <a:t>Объект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olos Text"/>
                        </a:rPr>
                        <a:t>Март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olos Text"/>
                        </a:rPr>
                        <a:t>Апрель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olos Text"/>
                        </a:rPr>
                        <a:t>Май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olos Text"/>
                        </a:rPr>
                        <a:t>Июнь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olos Text"/>
                        </a:rPr>
                        <a:t>Июль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olos Text"/>
                        </a:rPr>
                        <a:t>Итого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233"/>
                          </a:solidFill>
                          <a:latin typeface="Golos Text"/>
                        </a:rPr>
                        <a:t>Башня "Запад" комплекс "Федерация"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>
                          <a:solidFill>
                            <a:srgbClr val="1A2233"/>
                          </a:solidFill>
                          <a:latin typeface="Golos Text"/>
                        </a:rPr>
                        <a:t>-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148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148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131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161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588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233"/>
                          </a:solidFill>
                          <a:latin typeface="Golos Text"/>
                        </a:rPr>
                        <a:t>Башня ВТБ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1A2233"/>
                          </a:solidFill>
                          <a:latin typeface="Golos Text"/>
                        </a:rPr>
                        <a:t>17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145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106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102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84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454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233"/>
                          </a:solidFill>
                          <a:latin typeface="Golos Text"/>
                        </a:rPr>
                        <a:t>Башня "Восток" комплекс "Федерация"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>
                          <a:solidFill>
                            <a:srgbClr val="1A2233"/>
                          </a:solidFill>
                          <a:latin typeface="Golos Text"/>
                        </a:rPr>
                        <a:t>-</a:t>
                      </a:r>
                      <a:endParaRPr sz="1000" b="0" dirty="0">
                        <a:solidFill>
                          <a:srgbClr val="1A2233"/>
                        </a:solidFill>
                        <a:latin typeface="Golos Text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25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25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78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233"/>
                          </a:solidFill>
                          <a:latin typeface="Golos Text"/>
                        </a:rPr>
                        <a:t>ГО Трубная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2233"/>
                          </a:solidFill>
                          <a:effectLst/>
                          <a:uLnTx/>
                          <a:uFillTx/>
                          <a:latin typeface="Golos Text"/>
                          <a:ea typeface="+mn-ea"/>
                          <a:cs typeface="+mn-cs"/>
                        </a:rPr>
                        <a:t>-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2233"/>
                        </a:solidFill>
                        <a:effectLst/>
                        <a:uLnTx/>
                        <a:uFillTx/>
                        <a:latin typeface="Golos Text"/>
                        <a:ea typeface="+mn-ea"/>
                        <a:cs typeface="+mn-cs"/>
                      </a:endParaRP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1A2233"/>
                          </a:solidFill>
                          <a:latin typeface="Golos Text"/>
                        </a:rPr>
                        <a:t>10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19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12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11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52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233"/>
                          </a:solidFill>
                          <a:latin typeface="Golos Text"/>
                        </a:rPr>
                        <a:t>Днепропетровский пр-д, 4, корпус А,Б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2233"/>
                          </a:solidFill>
                          <a:effectLst/>
                          <a:uLnTx/>
                          <a:uFillTx/>
                          <a:latin typeface="Golos Text"/>
                          <a:ea typeface="+mn-ea"/>
                          <a:cs typeface="+mn-cs"/>
                        </a:rPr>
                        <a:t>-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2233"/>
                        </a:solidFill>
                        <a:effectLst/>
                        <a:uLnTx/>
                        <a:uFillTx/>
                        <a:latin typeface="Golos Text"/>
                        <a:ea typeface="+mn-ea"/>
                        <a:cs typeface="+mn-cs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2233"/>
                          </a:solidFill>
                          <a:effectLst/>
                          <a:uLnTx/>
                          <a:uFillTx/>
                          <a:latin typeface="Golos Text"/>
                          <a:ea typeface="+mn-ea"/>
                          <a:cs typeface="+mn-cs"/>
                        </a:rPr>
                        <a:t>-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2233"/>
                        </a:solidFill>
                        <a:effectLst/>
                        <a:uLnTx/>
                        <a:uFillTx/>
                        <a:latin typeface="Golos Text"/>
                        <a:ea typeface="+mn-ea"/>
                        <a:cs typeface="+mn-cs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>
                          <a:solidFill>
                            <a:srgbClr val="1A2233"/>
                          </a:solidFill>
                          <a:latin typeface="Golos Text"/>
                        </a:rPr>
                        <a:t>-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233"/>
                          </a:solidFill>
                          <a:latin typeface="Golos Text"/>
                        </a:rPr>
                        <a:t>ул. Воронцовская, д.43, корп.Б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2233"/>
                          </a:solidFill>
                          <a:effectLst/>
                          <a:uLnTx/>
                          <a:uFillTx/>
                          <a:latin typeface="Golos Text"/>
                          <a:ea typeface="+mn-ea"/>
                          <a:cs typeface="+mn-cs"/>
                        </a:rPr>
                        <a:t>-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2233"/>
                        </a:solidFill>
                        <a:effectLst/>
                        <a:uLnTx/>
                        <a:uFillTx/>
                        <a:latin typeface="Golos Text"/>
                        <a:ea typeface="+mn-ea"/>
                        <a:cs typeface="+mn-cs"/>
                      </a:endParaRP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2233"/>
                          </a:solidFill>
                          <a:effectLst/>
                          <a:uLnTx/>
                          <a:uFillTx/>
                          <a:latin typeface="Golos Text"/>
                          <a:ea typeface="+mn-ea"/>
                          <a:cs typeface="+mn-cs"/>
                        </a:rPr>
                        <a:t>-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2233"/>
                        </a:solidFill>
                        <a:effectLst/>
                        <a:uLnTx/>
                        <a:uFillTx/>
                        <a:latin typeface="Golos Text"/>
                        <a:ea typeface="+mn-ea"/>
                        <a:cs typeface="+mn-cs"/>
                      </a:endParaRP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2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5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8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233"/>
                          </a:solidFill>
                          <a:latin typeface="Golos Text"/>
                        </a:rPr>
                        <a:t>Магистральная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2233"/>
                          </a:solidFill>
                          <a:effectLst/>
                          <a:uLnTx/>
                          <a:uFillTx/>
                          <a:latin typeface="Golos Text"/>
                          <a:ea typeface="+mn-ea"/>
                          <a:cs typeface="+mn-cs"/>
                        </a:rPr>
                        <a:t>-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2233"/>
                        </a:solidFill>
                        <a:effectLst/>
                        <a:uLnTx/>
                        <a:uFillTx/>
                        <a:latin typeface="Golos Text"/>
                        <a:ea typeface="+mn-ea"/>
                        <a:cs typeface="+mn-cs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233"/>
                          </a:solidFill>
                          <a:effectLst/>
                          <a:uLnTx/>
                          <a:uFillTx/>
                          <a:latin typeface="Golos Tex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233"/>
                          </a:solidFill>
                          <a:latin typeface="Golos Text"/>
                        </a:rPr>
                        <a:t>3-я Рыбинская, д.18, стр. 5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2233"/>
                          </a:solidFill>
                          <a:effectLst/>
                          <a:uLnTx/>
                          <a:uFillTx/>
                          <a:latin typeface="Golos Text"/>
                          <a:ea typeface="+mn-ea"/>
                          <a:cs typeface="+mn-cs"/>
                        </a:rPr>
                        <a:t>-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2233"/>
                        </a:solidFill>
                        <a:effectLst/>
                        <a:uLnTx/>
                        <a:uFillTx/>
                        <a:latin typeface="Golos Text"/>
                        <a:ea typeface="+mn-ea"/>
                        <a:cs typeface="+mn-cs"/>
                      </a:endParaRP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2233"/>
                          </a:solidFill>
                          <a:effectLst/>
                          <a:uLnTx/>
                          <a:uFillTx/>
                          <a:latin typeface="Golos Text"/>
                          <a:ea typeface="+mn-ea"/>
                          <a:cs typeface="+mn-cs"/>
                        </a:rPr>
                        <a:t>-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2233"/>
                        </a:solidFill>
                        <a:effectLst/>
                        <a:uLnTx/>
                        <a:uFillTx/>
                        <a:latin typeface="Golos Text"/>
                        <a:ea typeface="+mn-ea"/>
                        <a:cs typeface="+mn-cs"/>
                      </a:endParaRP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2233"/>
                          </a:solidFill>
                          <a:effectLst/>
                          <a:uLnTx/>
                          <a:uFillTx/>
                          <a:latin typeface="Golos Text"/>
                          <a:ea typeface="+mn-ea"/>
                          <a:cs typeface="+mn-cs"/>
                        </a:rPr>
                        <a:t>-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2233"/>
                        </a:solidFill>
                        <a:effectLst/>
                        <a:uLnTx/>
                        <a:uFillTx/>
                        <a:latin typeface="Golos Text"/>
                        <a:ea typeface="+mn-ea"/>
                        <a:cs typeface="+mn-cs"/>
                      </a:endParaRP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3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4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7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233"/>
                          </a:solidFill>
                          <a:latin typeface="Golos Text"/>
                        </a:rPr>
                        <a:t>ул. Воронцовская, д.43 корп.А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2233"/>
                          </a:solidFill>
                          <a:effectLst/>
                          <a:uLnTx/>
                          <a:uFillTx/>
                          <a:latin typeface="Golos Text"/>
                          <a:ea typeface="+mn-ea"/>
                          <a:cs typeface="+mn-cs"/>
                        </a:rPr>
                        <a:t>-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2233"/>
                        </a:solidFill>
                        <a:effectLst/>
                        <a:uLnTx/>
                        <a:uFillTx/>
                        <a:latin typeface="Golos Text"/>
                        <a:ea typeface="+mn-ea"/>
                        <a:cs typeface="+mn-cs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2233"/>
                          </a:solidFill>
                          <a:effectLst/>
                          <a:uLnTx/>
                          <a:uFillTx/>
                          <a:latin typeface="Golos Text"/>
                          <a:ea typeface="+mn-ea"/>
                          <a:cs typeface="+mn-cs"/>
                        </a:rPr>
                        <a:t>-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2233"/>
                        </a:solidFill>
                        <a:effectLst/>
                        <a:uLnTx/>
                        <a:uFillTx/>
                        <a:latin typeface="Golos Text"/>
                        <a:ea typeface="+mn-ea"/>
                        <a:cs typeface="+mn-cs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2233"/>
                          </a:solidFill>
                          <a:effectLst/>
                          <a:uLnTx/>
                          <a:uFillTx/>
                          <a:latin typeface="Golos Text"/>
                          <a:ea typeface="+mn-ea"/>
                          <a:cs typeface="+mn-cs"/>
                        </a:rPr>
                        <a:t>-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2233"/>
                        </a:solidFill>
                        <a:effectLst/>
                        <a:uLnTx/>
                        <a:uFillTx/>
                        <a:latin typeface="Golos Text"/>
                        <a:ea typeface="+mn-ea"/>
                        <a:cs typeface="+mn-cs"/>
                      </a:endParaRP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>
                          <a:solidFill>
                            <a:srgbClr val="1A2233"/>
                          </a:solidFill>
                          <a:latin typeface="Golos Text"/>
                        </a:rPr>
                        <a:t>-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233"/>
                          </a:solidFill>
                          <a:latin typeface="Golos Text"/>
                        </a:rPr>
                        <a:t>г. Москва, Перовское ш., д.1, стр. 1,2,3.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233"/>
                          </a:solidFill>
                          <a:effectLst/>
                          <a:uLnTx/>
                          <a:uFillTx/>
                          <a:latin typeface="Golos Tex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A2233"/>
                          </a:solidFill>
                          <a:effectLst/>
                          <a:uLnTx/>
                          <a:uFillTx/>
                          <a:latin typeface="Golos Text"/>
                          <a:ea typeface="+mn-ea"/>
                          <a:cs typeface="+mn-cs"/>
                        </a:rPr>
                        <a:t>-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2233"/>
                        </a:solidFill>
                        <a:effectLst/>
                        <a:uLnTx/>
                        <a:uFillTx/>
                        <a:latin typeface="Golos Text"/>
                        <a:ea typeface="+mn-ea"/>
                        <a:cs typeface="+mn-cs"/>
                      </a:endParaRP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233"/>
                          </a:solidFill>
                          <a:effectLst/>
                          <a:uLnTx/>
                          <a:uFillTx/>
                          <a:latin typeface="Golos Tex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2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233"/>
                          </a:solidFill>
                          <a:latin typeface="Golos Text"/>
                        </a:rPr>
                        <a:t>ЗОТОВ ЦЕНТР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233"/>
                          </a:solidFill>
                          <a:effectLst/>
                          <a:uLnTx/>
                          <a:uFillTx/>
                          <a:latin typeface="Golos Tex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233"/>
                          </a:solidFill>
                          <a:effectLst/>
                          <a:uLnTx/>
                          <a:uFillTx/>
                          <a:latin typeface="Golos Tex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6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233"/>
                          </a:solidFill>
                          <a:latin typeface="Golos Text"/>
                        </a:rPr>
                        <a:t>Итого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1A2233"/>
                          </a:solidFill>
                          <a:latin typeface="Golos Text"/>
                        </a:rPr>
                        <a:t>18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1A2233"/>
                          </a:solidFill>
                          <a:latin typeface="Golos Text"/>
                        </a:rPr>
                        <a:t>321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288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283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233"/>
                          </a:solidFill>
                          <a:latin typeface="Golos Text"/>
                        </a:rPr>
                        <a:t>309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1A2233"/>
                          </a:solidFill>
                          <a:latin typeface="Golos Text"/>
                        </a:rPr>
                        <a:t>1 219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Bruno · ВТБ · 30.03–26.07.2026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AAFF"/>
                </a:solidFill>
                <a:latin typeface="Golos Text"/>
              </a:rPr>
              <a:t>Приложение · Блок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02882"/>
                </a:solidFill>
                <a:latin typeface="Golos Text"/>
              </a:rPr>
              <a:t>Все задачи — детализация по объектам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B82"/>
                </a:solidFill>
                <a:latin typeface="Golos Text"/>
              </a:rPr>
              <a:t>Выполнено/пропущено по неделям + эффективность (правая ось), ряд стартует с первой активности объекта</a:t>
            </a:r>
          </a:p>
        </p:txBody>
      </p:sp>
      <p:pic>
        <p:nvPicPr>
          <p:cNvPr id="5" name="Picture 4" descr="b3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832" y="1371600"/>
            <a:ext cx="6210030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94733" y="5966460"/>
            <a:ext cx="118872" cy="118872"/>
          </a:xfrm>
          <a:prstGeom prst="rect">
            <a:avLst/>
          </a:prstGeom>
          <a:solidFill>
            <a:srgbClr val="23A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86757" y="5934456"/>
            <a:ext cx="10076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A2233"/>
                </a:solidFill>
                <a:latin typeface="Golos Text"/>
              </a:rPr>
              <a:t>Выполнено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5502402" y="5966460"/>
            <a:ext cx="118872" cy="118872"/>
          </a:xfrm>
          <a:prstGeom prst="rect">
            <a:avLst/>
          </a:prstGeom>
          <a:solidFill>
            <a:srgbClr val="E6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94426" y="5934456"/>
            <a:ext cx="10076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A2233"/>
                </a:solidFill>
                <a:latin typeface="Golos Text"/>
              </a:rPr>
              <a:t>Пропущено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070" y="5966460"/>
            <a:ext cx="118872" cy="118872"/>
          </a:xfrm>
          <a:prstGeom prst="rect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02094" y="5934456"/>
            <a:ext cx="1442923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A2233"/>
                </a:solidFill>
                <a:latin typeface="Golos Text"/>
              </a:rPr>
              <a:t>Эффективность,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54496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B82"/>
                </a:solidFill>
                <a:latin typeface="Golos Text"/>
              </a:rPr>
              <a:t>Объекты ограничены статусом «Готово» (оклеены QR) на слайде «Внедрение»: Башня ВТБ, Федерация Восток, Федерация Запад, Магистральная 25А, Трубная 2, 3-я Рыбинская 18, 2-й Южнопортовый 18.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Bruno · ВТБ · 30.03–26.07.2026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AAFF"/>
                </a:solidFill>
                <a:latin typeface="Golos Text"/>
              </a:rPr>
              <a:t>Приложение · Блок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02882"/>
                </a:solidFill>
                <a:latin typeface="Golos Text"/>
              </a:rPr>
              <a:t>Все задачи — помесячная динамика по объектам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B82"/>
                </a:solidFill>
                <a:latin typeface="Golos Text"/>
              </a:rPr>
              <a:t>Выполнено / пропущено по месяцам, эффективность за весь период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98448"/>
          <a:ext cx="1127729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Объект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Март (вып/проп)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Апрель (вып/проп)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Май (вып/проп)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Июнь (вып/проп)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Июль (вып/проп)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Эфф. за период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Башня ВТБ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577/10 707 (с 30.03)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3 508/111 528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1 444/106 100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17 684/95 200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11 726/80 316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8.0%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Башня "Запад" комплекс "Федерация"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1 626/102 537 (с 03.04)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1 835/99 335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2 260/104 265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570/85 184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1.6%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Башня "Восток" комплекс "Федерация"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93/17 368 (с 06.04)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45/16 341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252/16 995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84/13 876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0.7%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ГО Трубная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7/7 855 (с 01.04)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25/7 802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15/9 538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12/7 799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0.2%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3-я Рыбинская, д.18, стр. 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112/9 055 (с 01.07)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1.1%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Магистральная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380/3 (с 14.04)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330/47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142/442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11/356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53.0%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2-й Южнопортовый пр-д, д. 18 стр.1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0/173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0/1 566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0.0%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Магистральная корпус 1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28/0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111/1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63/49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24/4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80.7%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254496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B82"/>
                </a:solidFill>
                <a:latin typeface="Golos Text"/>
              </a:rPr>
              <a:t>Объекты ограничены статусом «Готово» (оклеены QR) на слайде «Внедрение»: Башня ВТБ, Федерация Восток, Федерация Запад, Магистральная 25А, Трубная 2, 3-я Рыбинская 18, 2-й Южнопортовый 18.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Bruno · ВТБ · 30.03–26.07.2026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AAFF"/>
                </a:solidFill>
                <a:latin typeface="Golos Text"/>
              </a:rPr>
              <a:t>Приложение · Блок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02882"/>
                </a:solidFill>
                <a:latin typeface="Golos Text"/>
              </a:rPr>
              <a:t>Коменданты (неплановые) — детализация по каждому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B82"/>
                </a:solidFill>
                <a:latin typeface="Golos Text"/>
              </a:rPr>
              <a:t>Выполнено/не выполнено по неделям + эффективность (правая ось)</a:t>
            </a:r>
          </a:p>
        </p:txBody>
      </p:sp>
      <p:pic>
        <p:nvPicPr>
          <p:cNvPr id="5" name="Picture 4" descr="b4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534" y="1371600"/>
            <a:ext cx="6216625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01464" y="5966460"/>
            <a:ext cx="118872" cy="118872"/>
          </a:xfrm>
          <a:prstGeom prst="rect">
            <a:avLst/>
          </a:prstGeom>
          <a:solidFill>
            <a:srgbClr val="23A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3488" y="5934456"/>
            <a:ext cx="10076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A2233"/>
                </a:solidFill>
                <a:latin typeface="Golos Text"/>
              </a:rPr>
              <a:t>Выполнено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9133" y="5966460"/>
            <a:ext cx="118872" cy="118872"/>
          </a:xfrm>
          <a:prstGeom prst="rect">
            <a:avLst/>
          </a:prstGeom>
          <a:solidFill>
            <a:srgbClr val="E6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01157" y="5934456"/>
            <a:ext cx="119420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A2233"/>
                </a:solidFill>
                <a:latin typeface="Golos Text"/>
              </a:rPr>
              <a:t>Не выполнено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3339" y="5966460"/>
            <a:ext cx="118872" cy="118872"/>
          </a:xfrm>
          <a:prstGeom prst="rect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95363" y="5934456"/>
            <a:ext cx="1442923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A2233"/>
                </a:solidFill>
                <a:latin typeface="Golos Text"/>
              </a:rPr>
              <a:t>Эффективность,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54496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B82"/>
                </a:solidFill>
                <a:latin typeface="Golos Text"/>
              </a:rPr>
              <a:t>Мини-графики упрощены: подписаны только месяцы (без недельных отметок).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Bruno · ВТБ · 30.03–26.07.2026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AAFF"/>
                </a:solidFill>
                <a:latin typeface="Golos Text"/>
              </a:rPr>
              <a:t>Приложение · Блок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02882"/>
                </a:solidFill>
                <a:latin typeface="Golos Text"/>
              </a:rPr>
              <a:t>Коменданты (неплановые) — помесячная динамика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B82"/>
                </a:solidFill>
                <a:latin typeface="Golos Text"/>
              </a:rPr>
              <a:t>Выполнено / не выполнено по месяцам, эффективность за весь период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98448"/>
          <a:ext cx="11277293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9204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Комендант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Март (вып/не вып)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Апрель (вып/не вып)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Май (вып/не вып)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Июнь (вып/не вып)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Июль (вып/не вып)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Эфф. за период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Rodionov (Комендант)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18/3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12/2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12/3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4/7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75.8%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Shandra (Комендант)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26/7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12/2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6/2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5/0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81.7%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Gavrilov (Комендант)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4/1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9/0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17/0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11/1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5/0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95.8%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Petrova (Комендант)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7/0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8/0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1/1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0/4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76.2%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Gracheva (Комендант 2)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3/1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8/0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92.9%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S.solovieva (Комендант)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0/1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0/2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40.0%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Demina (Комендант 1)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1/1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1/1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60.0%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O.duka (Комендант)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0/1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75.0%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Koryakin (Комендант)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3/0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100.0%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Bruno · ВТБ · 30.03–26.07.2026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AAFF"/>
                </a:solidFill>
                <a:latin typeface="Golos Text"/>
              </a:rPr>
              <a:t>Приложение · Блок 4b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02882"/>
                </a:solidFill>
                <a:latin typeface="Golos Text"/>
              </a:rPr>
              <a:t>Коменданты (плановые) — детализация по каждому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B82"/>
                </a:solidFill>
                <a:latin typeface="Golos Text"/>
              </a:rPr>
              <a:t>Выполнено/не выполнено по неделям + эффективность (правая ось)</a:t>
            </a:r>
          </a:p>
        </p:txBody>
      </p:sp>
      <p:pic>
        <p:nvPicPr>
          <p:cNvPr id="5" name="Picture 4" descr="b4b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534" y="1371600"/>
            <a:ext cx="6216625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94733" y="5966460"/>
            <a:ext cx="118872" cy="118872"/>
          </a:xfrm>
          <a:prstGeom prst="rect">
            <a:avLst/>
          </a:prstGeom>
          <a:solidFill>
            <a:srgbClr val="23A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86757" y="5934456"/>
            <a:ext cx="10076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A2233"/>
                </a:solidFill>
                <a:latin typeface="Golos Text"/>
              </a:rPr>
              <a:t>Выполнено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5502402" y="5966460"/>
            <a:ext cx="118872" cy="118872"/>
          </a:xfrm>
          <a:prstGeom prst="rect">
            <a:avLst/>
          </a:prstGeom>
          <a:solidFill>
            <a:srgbClr val="E6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94426" y="5934456"/>
            <a:ext cx="10076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A2233"/>
                </a:solidFill>
                <a:latin typeface="Golos Text"/>
              </a:rPr>
              <a:t>Пропущено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070" y="5966460"/>
            <a:ext cx="118872" cy="118872"/>
          </a:xfrm>
          <a:prstGeom prst="rect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02094" y="5934456"/>
            <a:ext cx="1442923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A2233"/>
                </a:solidFill>
                <a:latin typeface="Golos Text"/>
              </a:rPr>
              <a:t>Эффективность,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54496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B82"/>
                </a:solidFill>
                <a:latin typeface="Golos Text"/>
              </a:rPr>
              <a:t>Мини-графики упрощены: подписаны только месяцы (без недельных отметок).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Bruno · ВТБ · 30.03–26.07.2026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AAFF"/>
                </a:solidFill>
                <a:latin typeface="Golos Text"/>
              </a:rPr>
              <a:t>Приложение · Блок 4b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02882"/>
                </a:solidFill>
                <a:latin typeface="Golos Text"/>
              </a:rPr>
              <a:t>Коменданты (плановые) — помесячная динамика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B82"/>
                </a:solidFill>
                <a:latin typeface="Golos Text"/>
              </a:rPr>
              <a:t>Выполнено / пропущено по месяцам, эффективность за весь период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98448"/>
          <a:ext cx="11277293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Комендант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Март (вып/не вып)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Апрель (вып/не вып)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Май (вып/не вып)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Июнь (вып/не вып)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Июль (вып/не вып)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Эфф. за период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Rodionov (Комендант)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19/300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25/1 560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95/2 417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19/1 299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29/630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2.9%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Gavrilov (Комендант)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110/220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188/1 422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687/1 793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708/532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194/547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29.5%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Shandra (Комендант)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11/1 366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29/1 347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43/1 716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0/1 110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1.5%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Gracheva (Комендант 2)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1 028/45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768/292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1 318/40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204/662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76.2%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Petrova (Комендант)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0/645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59/585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86/752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111/437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9.6%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Demina (Комендант 1)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241/56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252/48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226/304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174/375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53.3%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S.solovieva (Комендант)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37/666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5.3%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Bruno · ВТБ · 30.03–26.07.2026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AAFF"/>
                </a:solidFill>
                <a:latin typeface="Golos Text"/>
              </a:rPr>
              <a:t>Приложение · Блок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02882"/>
                </a:solidFill>
                <a:latin typeface="Golos Text"/>
              </a:rPr>
              <a:t>Уборка (плановые) — детализация по объектам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B82"/>
                </a:solidFill>
                <a:latin typeface="Golos Text"/>
              </a:rPr>
              <a:t>Выполнено/пропущено по неделям + эффективность (правая ось), ряд стартует с первой активности объекта</a:t>
            </a:r>
          </a:p>
        </p:txBody>
      </p:sp>
      <p:pic>
        <p:nvPicPr>
          <p:cNvPr id="5" name="Picture 4" descr="b5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832" y="1371600"/>
            <a:ext cx="6210030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94733" y="5966460"/>
            <a:ext cx="118872" cy="118872"/>
          </a:xfrm>
          <a:prstGeom prst="rect">
            <a:avLst/>
          </a:prstGeom>
          <a:solidFill>
            <a:srgbClr val="23A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86757" y="5934456"/>
            <a:ext cx="10076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A2233"/>
                </a:solidFill>
                <a:latin typeface="Golos Text"/>
              </a:rPr>
              <a:t>Выполнено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5502402" y="5966460"/>
            <a:ext cx="118872" cy="118872"/>
          </a:xfrm>
          <a:prstGeom prst="rect">
            <a:avLst/>
          </a:prstGeom>
          <a:solidFill>
            <a:srgbClr val="E6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94426" y="5934456"/>
            <a:ext cx="10076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A2233"/>
                </a:solidFill>
                <a:latin typeface="Golos Text"/>
              </a:rPr>
              <a:t>Пропущено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070" y="5966460"/>
            <a:ext cx="118872" cy="118872"/>
          </a:xfrm>
          <a:prstGeom prst="rect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02094" y="5934456"/>
            <a:ext cx="1442923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A2233"/>
                </a:solidFill>
                <a:latin typeface="Golos Text"/>
              </a:rPr>
              <a:t>Эффективность,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54496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B82"/>
                </a:solidFill>
                <a:latin typeface="Golos Text"/>
              </a:rPr>
              <a:t>Объекты ограничены статусом «Готово» (оклеены QR) на слайде «Внедрение»: Башня ВТБ, Федерация Восток, Федерация Запад, Магистральная 25А, Трубная 2, 3-я Рыбинская 18, 2-й Южнопортовый 18.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Bruno · ВТБ · 30.03–26.07.2026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AAFF"/>
                </a:solidFill>
                <a:latin typeface="Golos Text"/>
              </a:rPr>
              <a:t>Приложение · Блок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02882"/>
                </a:solidFill>
                <a:latin typeface="Golos Text"/>
              </a:rPr>
              <a:t>Уборка (плановые) — помесячная динамика по объектам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B82"/>
                </a:solidFill>
                <a:latin typeface="Golos Text"/>
              </a:rPr>
              <a:t>Выполнено / пропущено по месяцам, эффективность за весь период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98448"/>
          <a:ext cx="1127729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36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Объект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Март (вып/проп)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Апрель (вып/проп)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Май (вып/проп)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Июнь (вып/проп)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Июль (вып/проп)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Golos Text"/>
                        </a:rPr>
                        <a:t>Эфф. за период</a:t>
                      </a:r>
                    </a:p>
                  </a:txBody>
                  <a:tcPr marL="54864" marR="54864" anchor="ctr">
                    <a:solidFill>
                      <a:srgbClr val="0028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Башня ВТБ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296/9 157 (с 30.03)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2 055/101 921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393/98 857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15 926/87 931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10 926/74 123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7.4%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Башня "Запад" комплекс "Федерация"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0/66 286 (с 03.04)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0/63 073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0/66 073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0/54 034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0.0%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Башня "Восток" комплекс "Федерация"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0/13 078 (с 06.04)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0/12 226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0/12 760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0/10 440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0.0%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ГО Трубная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0/4 284 (с 01.04)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0/4 462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0/5 214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0/4 266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0.0%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3-я Рыбинская, д.18, стр. 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8/8 492 (с 01.07)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0.1%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1A2233"/>
                          </a:solidFill>
                          <a:latin typeface="Golos Text"/>
                        </a:rPr>
                        <a:t>2-й Южнопортовый пр-д, д. 18 стр.1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0/156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0/1 260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A2233"/>
                          </a:solidFill>
                          <a:latin typeface="Golos Text"/>
                        </a:rPr>
                        <a:t>0.0%</a:t>
                      </a:r>
                    </a:p>
                  </a:txBody>
                  <a:tcPr marL="54864" marR="54864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254496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B82"/>
                </a:solidFill>
                <a:latin typeface="Golos Text"/>
              </a:rPr>
              <a:t>Объекты ограничены статусом «Готово» (оклеены QR) на слайде «Внедрение»: Башня ВТБ, Федерация Восток, Федерация Запад, Магистральная 25А, Трубная 2, 3-я Рыбинская 18, 2-й Южнопортовый 18.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Bruno · ВТБ · 30.03–26.07.2026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2"/>
                </a:solidFill>
                <a:latin typeface="Golos Text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2054</Words>
  <Application>Microsoft Office PowerPoint</Application>
  <PresentationFormat>Widescreen</PresentationFormat>
  <Paragraphs>584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Golos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1</cp:revision>
  <dcterms:created xsi:type="dcterms:W3CDTF">2026-07-30T14:43:38Z</dcterms:created>
  <dcterms:modified xsi:type="dcterms:W3CDTF">2026-07-30T14:53:56Z</dcterms:modified>
</cp:coreProperties>
</file>